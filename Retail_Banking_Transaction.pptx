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9" r:id="rId4"/>
    <p:sldId id="260" r:id="rId5"/>
    <p:sldId id="261" r:id="rId6"/>
    <p:sldId id="262" r:id="rId7"/>
    <p:sldId id="263" r:id="rId8"/>
    <p:sldId id="277" r:id="rId9"/>
    <p:sldId id="278" r:id="rId10"/>
    <p:sldId id="279" r:id="rId11"/>
    <p:sldId id="280" r:id="rId12"/>
    <p:sldId id="281" r:id="rId13"/>
    <p:sldId id="298" r:id="rId14"/>
    <p:sldId id="257" r:id="rId15"/>
    <p:sldId id="299" r:id="rId16"/>
    <p:sldId id="300" r:id="rId17"/>
    <p:sldId id="301" r:id="rId18"/>
    <p:sldId id="302" r:id="rId19"/>
    <p:sldId id="303" r:id="rId20"/>
    <p:sldId id="304" r:id="rId21"/>
    <p:sldId id="264" r:id="rId22"/>
    <p:sldId id="265" r:id="rId23"/>
    <p:sldId id="282" r:id="rId24"/>
    <p:sldId id="283" r:id="rId25"/>
    <p:sldId id="284" r:id="rId26"/>
    <p:sldId id="285" r:id="rId27"/>
    <p:sldId id="286" r:id="rId28"/>
    <p:sldId id="288" r:id="rId29"/>
    <p:sldId id="289" r:id="rId30"/>
    <p:sldId id="290" r:id="rId31"/>
    <p:sldId id="291" r:id="rId32"/>
    <p:sldId id="292" r:id="rId33"/>
    <p:sldId id="293" r:id="rId34"/>
    <p:sldId id="294" r:id="rId35"/>
    <p:sldId id="295" r:id="rId36"/>
    <p:sldId id="296" r:id="rId37"/>
    <p:sldId id="275" r:id="rId38"/>
    <p:sldId id="276" r:id="rId39"/>
    <p:sldId id="297"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9" d="100"/>
          <a:sy n="79" d="100"/>
        </p:scale>
        <p:origin x="821" y="8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ogram 1"/>
          <p:cNvSpPr/>
          <p:nvPr/>
        </p:nvSpPr>
        <p:spPr>
          <a:xfrm>
            <a:off x="0" y="320040"/>
            <a:ext cx="246888" cy="1417320"/>
          </a:xfrm>
          <a:prstGeom prst="parallelogram">
            <a:avLst/>
          </a:prstGeom>
          <a:solidFill>
            <a:srgbClr val="1E1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Parallelogram 2"/>
          <p:cNvSpPr/>
          <p:nvPr/>
        </p:nvSpPr>
        <p:spPr>
          <a:xfrm>
            <a:off x="164592" y="210312"/>
            <a:ext cx="256032" cy="1417320"/>
          </a:xfrm>
          <a:prstGeom prst="parallelogram">
            <a:avLst/>
          </a:prstGeom>
          <a:solidFill>
            <a:srgbClr val="DD2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Parallelogram 3"/>
          <p:cNvSpPr/>
          <p:nvPr/>
        </p:nvSpPr>
        <p:spPr>
          <a:xfrm>
            <a:off x="393192" y="256032"/>
            <a:ext cx="118872" cy="1078992"/>
          </a:xfrm>
          <a:prstGeom prst="parallelogram">
            <a:avLst/>
          </a:prstGeom>
          <a:solidFill>
            <a:srgbClr val="DD2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arallelogram 4"/>
          <p:cNvSpPr/>
          <p:nvPr/>
        </p:nvSpPr>
        <p:spPr>
          <a:xfrm>
            <a:off x="11292840" y="5650992"/>
            <a:ext cx="201168" cy="1097280"/>
          </a:xfrm>
          <a:prstGeom prst="parallelogram">
            <a:avLst/>
          </a:prstGeom>
          <a:solidFill>
            <a:srgbClr val="1E1E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arallelogram 5"/>
          <p:cNvSpPr/>
          <p:nvPr/>
        </p:nvSpPr>
        <p:spPr>
          <a:xfrm>
            <a:off x="10954512" y="5449824"/>
            <a:ext cx="246888" cy="1371600"/>
          </a:xfrm>
          <a:prstGeom prst="parallelogram">
            <a:avLst/>
          </a:prstGeom>
          <a:solidFill>
            <a:srgbClr val="DD2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arallelogram 6"/>
          <p:cNvSpPr/>
          <p:nvPr/>
        </p:nvSpPr>
        <p:spPr>
          <a:xfrm>
            <a:off x="10698480" y="5715000"/>
            <a:ext cx="118872" cy="1005840"/>
          </a:xfrm>
          <a:prstGeom prst="parallelogram">
            <a:avLst/>
          </a:prstGeom>
          <a:solidFill>
            <a:srgbClr val="DD2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nnomatics_logo_clean.png"/>
          <p:cNvPicPr>
            <a:picLocks noChangeAspect="1"/>
          </p:cNvPicPr>
          <p:nvPr/>
        </p:nvPicPr>
        <p:blipFill>
          <a:blip r:embed="rId2"/>
          <a:stretch>
            <a:fillRect/>
          </a:stretch>
        </p:blipFill>
        <p:spPr>
          <a:xfrm>
            <a:off x="3337560" y="502920"/>
            <a:ext cx="5486400" cy="1157132"/>
          </a:xfrm>
          <a:prstGeom prst="rect">
            <a:avLst/>
          </a:prstGeom>
        </p:spPr>
      </p:pic>
      <p:sp>
        <p:nvSpPr>
          <p:cNvPr id="9" name="TextBox 8"/>
          <p:cNvSpPr txBox="1"/>
          <p:nvPr/>
        </p:nvSpPr>
        <p:spPr>
          <a:xfrm>
            <a:off x="4069080" y="1993392"/>
            <a:ext cx="4069080" cy="384048"/>
          </a:xfrm>
          <a:prstGeom prst="rect">
            <a:avLst/>
          </a:prstGeom>
          <a:noFill/>
        </p:spPr>
        <p:txBody>
          <a:bodyPr wrap="square" anchor="ctr">
            <a:spAutoFit/>
          </a:bodyPr>
          <a:lstStyle/>
          <a:p>
            <a:pPr algn="ctr"/>
            <a:r>
              <a:rPr sz="1900" b="1">
                <a:solidFill>
                  <a:srgbClr val="DD242C"/>
                </a:solidFill>
                <a:latin typeface="Roboto Condensed"/>
              </a:rPr>
              <a:t>PROJECT ON</a:t>
            </a:r>
          </a:p>
        </p:txBody>
      </p:sp>
      <p:sp>
        <p:nvSpPr>
          <p:cNvPr id="10" name="TextBox 9"/>
          <p:cNvSpPr txBox="1"/>
          <p:nvPr/>
        </p:nvSpPr>
        <p:spPr>
          <a:xfrm>
            <a:off x="1554480" y="2487168"/>
            <a:ext cx="9098280" cy="603504"/>
          </a:xfrm>
          <a:prstGeom prst="rect">
            <a:avLst/>
          </a:prstGeom>
          <a:noFill/>
        </p:spPr>
        <p:txBody>
          <a:bodyPr wrap="square" anchor="ctr">
            <a:spAutoFit/>
          </a:bodyPr>
          <a:lstStyle/>
          <a:p>
            <a:pPr algn="ctr"/>
            <a:r>
              <a:rPr sz="2900" b="1">
                <a:solidFill>
                  <a:srgbClr val="BC1A23"/>
                </a:solidFill>
                <a:latin typeface="Roboto Condensed"/>
              </a:rPr>
              <a:t>RETAIL BANKING TRANSACTION ANALYSIS</a:t>
            </a:r>
          </a:p>
        </p:txBody>
      </p:sp>
      <p:sp>
        <p:nvSpPr>
          <p:cNvPr id="11" name="TextBox 10"/>
          <p:cNvSpPr txBox="1"/>
          <p:nvPr/>
        </p:nvSpPr>
        <p:spPr>
          <a:xfrm>
            <a:off x="4160520" y="3127248"/>
            <a:ext cx="3840480" cy="365760"/>
          </a:xfrm>
          <a:prstGeom prst="rect">
            <a:avLst/>
          </a:prstGeom>
          <a:noFill/>
        </p:spPr>
        <p:txBody>
          <a:bodyPr wrap="square" anchor="ctr">
            <a:spAutoFit/>
          </a:bodyPr>
          <a:lstStyle/>
          <a:p>
            <a:pPr algn="ctr"/>
            <a:r>
              <a:rPr lang="en-IN" sz="1700" b="1" dirty="0">
                <a:solidFill>
                  <a:srgbClr val="1E1E20"/>
                </a:solidFill>
                <a:latin typeface="Roboto Condensed"/>
              </a:rPr>
              <a:t>A Database </a:t>
            </a:r>
            <a:r>
              <a:rPr sz="1700" b="1" dirty="0">
                <a:solidFill>
                  <a:srgbClr val="1E1E20"/>
                </a:solidFill>
                <a:latin typeface="Roboto Condensed"/>
              </a:rPr>
              <a:t>Using MySQL</a:t>
            </a:r>
          </a:p>
        </p:txBody>
      </p:sp>
      <p:sp>
        <p:nvSpPr>
          <p:cNvPr id="12" name="TextBox 11"/>
          <p:cNvSpPr txBox="1"/>
          <p:nvPr/>
        </p:nvSpPr>
        <p:spPr>
          <a:xfrm>
            <a:off x="9006840" y="4709160"/>
            <a:ext cx="1920240" cy="274320"/>
          </a:xfrm>
          <a:prstGeom prst="rect">
            <a:avLst/>
          </a:prstGeom>
          <a:noFill/>
        </p:spPr>
        <p:txBody>
          <a:bodyPr wrap="square" anchor="ctr">
            <a:spAutoFit/>
          </a:bodyPr>
          <a:lstStyle/>
          <a:p>
            <a:pPr algn="l"/>
            <a:r>
              <a:rPr sz="1100" b="1">
                <a:solidFill>
                  <a:srgbClr val="1E1E20"/>
                </a:solidFill>
                <a:latin typeface="Roboto Condensed"/>
              </a:rPr>
              <a:t>Presented by :</a:t>
            </a:r>
          </a:p>
        </p:txBody>
      </p:sp>
      <p:sp>
        <p:nvSpPr>
          <p:cNvPr id="13" name="TextBox 12"/>
          <p:cNvSpPr txBox="1"/>
          <p:nvPr/>
        </p:nvSpPr>
        <p:spPr>
          <a:xfrm>
            <a:off x="8183879" y="5047488"/>
            <a:ext cx="2926080" cy="384048"/>
          </a:xfrm>
          <a:prstGeom prst="rect">
            <a:avLst/>
          </a:prstGeom>
          <a:noFill/>
        </p:spPr>
        <p:txBody>
          <a:bodyPr wrap="square" anchor="ctr">
            <a:spAutoFit/>
          </a:bodyPr>
          <a:lstStyle/>
          <a:p>
            <a:pPr algn="l"/>
            <a:r>
              <a:rPr sz="1500" b="1">
                <a:solidFill>
                  <a:srgbClr val="1E1E20"/>
                </a:solidFill>
                <a:latin typeface="Roboto Condensed"/>
              </a:rPr>
              <a:t>Alupana Narendra Reddy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65760"/>
            <a:ext cx="10332720" cy="566928"/>
          </a:xfrm>
          <a:prstGeom prst="rect">
            <a:avLst/>
          </a:prstGeom>
          <a:noFill/>
        </p:spPr>
        <p:txBody>
          <a:bodyPr wrap="square" anchor="ctr">
            <a:spAutoFit/>
          </a:bodyPr>
          <a:lstStyle/>
          <a:p>
            <a:pPr algn="ctr"/>
            <a:r>
              <a:rPr sz="3100" b="1">
                <a:solidFill>
                  <a:srgbClr val="DD242C"/>
                </a:solidFill>
                <a:latin typeface="Roboto Condensed"/>
              </a:rPr>
              <a:t>Agenda</a:t>
            </a:r>
          </a:p>
        </p:txBody>
      </p:sp>
      <p:sp>
        <p:nvSpPr>
          <p:cNvPr id="3" name="TextBox 2"/>
          <p:cNvSpPr txBox="1"/>
          <p:nvPr/>
        </p:nvSpPr>
        <p:spPr>
          <a:xfrm>
            <a:off x="1874519" y="1143000"/>
            <a:ext cx="8595360" cy="4709160"/>
          </a:xfrm>
          <a:prstGeom prst="rect">
            <a:avLst/>
          </a:prstGeom>
          <a:noFill/>
        </p:spPr>
        <p:txBody>
          <a:bodyPr wrap="square">
            <a:spAutoFit/>
          </a:bodyPr>
          <a:lstStyle/>
          <a:p>
            <a:pPr>
              <a:spcAft>
                <a:spcPts val="700"/>
              </a:spcAft>
              <a:defRPr sz="1700">
                <a:solidFill>
                  <a:srgbClr val="1E1E20"/>
                </a:solidFill>
                <a:latin typeface="Roboto Condensed"/>
              </a:defRPr>
            </a:pPr>
            <a:r>
              <a:rPr dirty="0"/>
              <a:t>➢ Business Problem</a:t>
            </a:r>
          </a:p>
          <a:p>
            <a:pPr>
              <a:spcAft>
                <a:spcPts val="700"/>
              </a:spcAft>
              <a:defRPr sz="1700">
                <a:solidFill>
                  <a:srgbClr val="1E1E20"/>
                </a:solidFill>
                <a:latin typeface="Roboto Condensed"/>
              </a:defRPr>
            </a:pPr>
            <a:r>
              <a:rPr dirty="0"/>
              <a:t>➢ Problem Statement</a:t>
            </a:r>
          </a:p>
          <a:p>
            <a:pPr>
              <a:spcAft>
                <a:spcPts val="700"/>
              </a:spcAft>
              <a:defRPr sz="1700">
                <a:solidFill>
                  <a:srgbClr val="1E1E20"/>
                </a:solidFill>
                <a:latin typeface="Roboto Condensed"/>
              </a:defRPr>
            </a:pPr>
            <a:r>
              <a:rPr dirty="0"/>
              <a:t>➢ Objectives</a:t>
            </a:r>
          </a:p>
          <a:p>
            <a:pPr>
              <a:spcAft>
                <a:spcPts val="700"/>
              </a:spcAft>
              <a:defRPr sz="1700">
                <a:solidFill>
                  <a:srgbClr val="1E1E20"/>
                </a:solidFill>
                <a:latin typeface="Roboto Condensed"/>
              </a:defRPr>
            </a:pPr>
            <a:r>
              <a:rPr dirty="0"/>
              <a:t>➢ Data Description</a:t>
            </a:r>
          </a:p>
          <a:p>
            <a:pPr>
              <a:spcAft>
                <a:spcPts val="700"/>
              </a:spcAft>
              <a:defRPr sz="1700">
                <a:solidFill>
                  <a:srgbClr val="1E1E20"/>
                </a:solidFill>
                <a:latin typeface="Roboto Condensed"/>
              </a:defRPr>
            </a:pPr>
            <a:r>
              <a:rPr dirty="0"/>
              <a:t>➢ ER Diagram</a:t>
            </a:r>
          </a:p>
          <a:p>
            <a:pPr>
              <a:spcAft>
                <a:spcPts val="700"/>
              </a:spcAft>
              <a:defRPr sz="1700">
                <a:solidFill>
                  <a:srgbClr val="1E1E20"/>
                </a:solidFill>
                <a:latin typeface="Roboto Condensed"/>
              </a:defRPr>
            </a:pPr>
            <a:r>
              <a:rPr dirty="0"/>
              <a:t>➢ SQL Analysis Framework</a:t>
            </a:r>
          </a:p>
          <a:p>
            <a:pPr>
              <a:spcAft>
                <a:spcPts val="700"/>
              </a:spcAft>
              <a:defRPr sz="1700">
                <a:solidFill>
                  <a:srgbClr val="1E1E20"/>
                </a:solidFill>
                <a:latin typeface="Roboto Condensed"/>
              </a:defRPr>
            </a:pPr>
            <a:r>
              <a:rPr dirty="0"/>
              <a:t>➢ Basic Analysis</a:t>
            </a:r>
          </a:p>
          <a:p>
            <a:pPr>
              <a:spcAft>
                <a:spcPts val="700"/>
              </a:spcAft>
              <a:defRPr sz="1700">
                <a:solidFill>
                  <a:srgbClr val="1E1E20"/>
                </a:solidFill>
                <a:latin typeface="Roboto Condensed"/>
              </a:defRPr>
            </a:pPr>
            <a:r>
              <a:rPr dirty="0"/>
              <a:t>➢ Customer Insights</a:t>
            </a:r>
          </a:p>
          <a:p>
            <a:pPr>
              <a:spcAft>
                <a:spcPts val="700"/>
              </a:spcAft>
              <a:defRPr sz="1700">
                <a:solidFill>
                  <a:srgbClr val="1E1E20"/>
                </a:solidFill>
                <a:latin typeface="Roboto Condensed"/>
              </a:defRPr>
            </a:pPr>
            <a:r>
              <a:rPr dirty="0"/>
              <a:t>➢ Account &amp; Branch Analysis</a:t>
            </a:r>
          </a:p>
          <a:p>
            <a:pPr>
              <a:spcAft>
                <a:spcPts val="700"/>
              </a:spcAft>
              <a:defRPr sz="1700">
                <a:solidFill>
                  <a:srgbClr val="1E1E20"/>
                </a:solidFill>
                <a:latin typeface="Roboto Condensed"/>
              </a:defRPr>
            </a:pPr>
            <a:r>
              <a:rPr dirty="0"/>
              <a:t>➢ Transaction Analysis</a:t>
            </a:r>
          </a:p>
          <a:p>
            <a:pPr>
              <a:spcAft>
                <a:spcPts val="700"/>
              </a:spcAft>
              <a:defRPr sz="1700">
                <a:solidFill>
                  <a:srgbClr val="1E1E20"/>
                </a:solidFill>
                <a:latin typeface="Roboto Condensed"/>
              </a:defRPr>
            </a:pPr>
            <a:r>
              <a:rPr dirty="0"/>
              <a:t>➢ Loan Analysis</a:t>
            </a:r>
          </a:p>
          <a:p>
            <a:pPr>
              <a:spcAft>
                <a:spcPts val="700"/>
              </a:spcAft>
              <a:defRPr sz="1700">
                <a:solidFill>
                  <a:srgbClr val="1E1E20"/>
                </a:solidFill>
                <a:latin typeface="Roboto Condensed"/>
              </a:defRPr>
            </a:pPr>
            <a:r>
              <a:rPr dirty="0"/>
              <a:t>➢ Card &amp; Product Engagement</a:t>
            </a:r>
          </a:p>
          <a:p>
            <a:pPr>
              <a:spcAft>
                <a:spcPts val="700"/>
              </a:spcAft>
              <a:defRPr sz="1700">
                <a:solidFill>
                  <a:srgbClr val="1E1E20"/>
                </a:solidFill>
                <a:latin typeface="Roboto Condensed"/>
              </a:defRPr>
            </a:pPr>
            <a:r>
              <a:rPr dirty="0"/>
              <a:t>➢ Key Business Insights</a:t>
            </a:r>
          </a:p>
          <a:p>
            <a:pPr>
              <a:spcAft>
                <a:spcPts val="700"/>
              </a:spcAft>
              <a:defRPr sz="1700">
                <a:solidFill>
                  <a:srgbClr val="1E1E20"/>
                </a:solidFill>
                <a:latin typeface="Roboto Condensed"/>
              </a:defRPr>
            </a:pPr>
            <a:r>
              <a:rPr dirty="0"/>
              <a:t>➢ Conclusion &amp; Future Scope</a:t>
            </a:r>
          </a:p>
          <a:p>
            <a:pPr>
              <a:spcAft>
                <a:spcPts val="700"/>
              </a:spcAft>
              <a:defRPr sz="1700">
                <a:solidFill>
                  <a:srgbClr val="1E1E20"/>
                </a:solidFill>
                <a:latin typeface="Roboto Condensed"/>
              </a:defRPr>
            </a:pPr>
            <a:r>
              <a:rPr dirty="0"/>
              <a:t>➢ Business Recommendation</a:t>
            </a:r>
          </a:p>
        </p:txBody>
      </p:sp>
      <p:pic>
        <p:nvPicPr>
          <p:cNvPr id="4" name="Picture 3" descr="innomatics_logo_clean.png"/>
          <p:cNvPicPr>
            <a:picLocks noChangeAspect="1"/>
          </p:cNvPicPr>
          <p:nvPr/>
        </p:nvPicPr>
        <p:blipFill>
          <a:blip r:embed="rId2"/>
          <a:stretch>
            <a:fillRect/>
          </a:stretch>
        </p:blipFill>
        <p:spPr>
          <a:xfrm>
            <a:off x="9555480" y="6007608"/>
            <a:ext cx="1965960" cy="414639"/>
          </a:xfrm>
          <a:prstGeom prst="rect">
            <a:avLst/>
          </a:prstGeom>
        </p:spPr>
      </p:pic>
      <p:sp>
        <p:nvSpPr>
          <p:cNvPr id="5" name="TextBox 4"/>
          <p:cNvSpPr txBox="1"/>
          <p:nvPr/>
        </p:nvSpPr>
        <p:spPr>
          <a:xfrm>
            <a:off x="11109960" y="6321960"/>
            <a:ext cx="347472" cy="230832"/>
          </a:xfrm>
          <a:prstGeom prst="rect">
            <a:avLst/>
          </a:prstGeom>
          <a:noFill/>
        </p:spPr>
        <p:txBody>
          <a:bodyPr wrap="square" anchor="ctr">
            <a:spAutoFit/>
          </a:bodyPr>
          <a:lstStyle/>
          <a:p>
            <a:pPr algn="r"/>
            <a:r>
              <a:rPr sz="900" b="1" dirty="0">
                <a:solidFill>
                  <a:srgbClr val="525254"/>
                </a:solidFill>
                <a:latin typeface="Roboto Condensed"/>
              </a:rPr>
              <a:t>0</a:t>
            </a:r>
            <a:r>
              <a:rPr lang="en-IN" sz="900" b="1" dirty="0">
                <a:solidFill>
                  <a:srgbClr val="525254"/>
                </a:solidFill>
                <a:latin typeface="Roboto Condensed"/>
              </a:rPr>
              <a:t>2</a:t>
            </a:r>
            <a:endParaRPr sz="900" b="1" dirty="0">
              <a:solidFill>
                <a:srgbClr val="525254"/>
              </a:solidFill>
              <a:latin typeface="Roboto Condense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65760"/>
            <a:ext cx="10332720" cy="566928"/>
          </a:xfrm>
          <a:prstGeom prst="rect">
            <a:avLst/>
          </a:prstGeom>
          <a:noFill/>
        </p:spPr>
        <p:txBody>
          <a:bodyPr wrap="square" anchor="ctr">
            <a:spAutoFit/>
          </a:bodyPr>
          <a:lstStyle/>
          <a:p>
            <a:pPr algn="ctr"/>
            <a:r>
              <a:rPr sz="3100" b="1">
                <a:solidFill>
                  <a:srgbClr val="DD242C"/>
                </a:solidFill>
                <a:latin typeface="Roboto Condensed"/>
              </a:rPr>
              <a:t>Business Problem</a:t>
            </a:r>
          </a:p>
        </p:txBody>
      </p:sp>
      <p:sp>
        <p:nvSpPr>
          <p:cNvPr id="3" name="TextBox 2"/>
          <p:cNvSpPr txBox="1"/>
          <p:nvPr/>
        </p:nvSpPr>
        <p:spPr>
          <a:xfrm>
            <a:off x="914400" y="1417320"/>
            <a:ext cx="10241280" cy="4297680"/>
          </a:xfrm>
          <a:prstGeom prst="rect">
            <a:avLst/>
          </a:prstGeom>
          <a:noFill/>
        </p:spPr>
        <p:txBody>
          <a:bodyPr wrap="square">
            <a:spAutoFit/>
          </a:bodyPr>
          <a:lstStyle/>
          <a:p>
            <a:pPr>
              <a:spcAft>
                <a:spcPts val="700"/>
              </a:spcAft>
              <a:defRPr sz="1750">
                <a:solidFill>
                  <a:srgbClr val="1E1E20"/>
                </a:solidFill>
                <a:latin typeface="Roboto Condensed"/>
              </a:defRPr>
            </a:pPr>
            <a:r>
              <a:t>➢ A retail bank manages interconnected information across customers, accounts, branches, transactions, loans, loan payments and cards.</a:t>
            </a:r>
          </a:p>
          <a:p>
            <a:pPr>
              <a:spcAft>
                <a:spcPts val="700"/>
              </a:spcAft>
              <a:defRPr sz="1750">
                <a:solidFill>
                  <a:srgbClr val="1E1E20"/>
                </a:solidFill>
                <a:latin typeface="Roboto Condensed"/>
              </a:defRPr>
            </a:pPr>
            <a:r>
              <a:t>➢ Management needs a structured way to understand customer behaviour, account activity, transaction patterns, loan performance and product usage.</a:t>
            </a:r>
          </a:p>
          <a:p>
            <a:pPr>
              <a:spcAft>
                <a:spcPts val="700"/>
              </a:spcAft>
              <a:defRPr sz="1750">
                <a:solidFill>
                  <a:srgbClr val="1E1E20"/>
                </a:solidFill>
                <a:latin typeface="Roboto Condensed"/>
              </a:defRPr>
            </a:pPr>
            <a:r>
              <a:t>➢ A relational MySQL database connects these business entities and supports repeatable SQL analysis.</a:t>
            </a:r>
          </a:p>
          <a:p>
            <a:pPr>
              <a:spcAft>
                <a:spcPts val="700"/>
              </a:spcAft>
              <a:defRPr sz="1750">
                <a:solidFill>
                  <a:srgbClr val="1E1E20"/>
                </a:solidFill>
                <a:latin typeface="Roboto Condensed"/>
              </a:defRPr>
            </a:pPr>
            <a:r>
              <a:t>➢ The analysis should convert operational banking records into useful business understanding and decisions.</a:t>
            </a:r>
          </a:p>
        </p:txBody>
      </p:sp>
      <p:pic>
        <p:nvPicPr>
          <p:cNvPr id="4" name="Picture 3" descr="innomatics_logo_clean.png"/>
          <p:cNvPicPr>
            <a:picLocks noChangeAspect="1"/>
          </p:cNvPicPr>
          <p:nvPr/>
        </p:nvPicPr>
        <p:blipFill>
          <a:blip r:embed="rId2"/>
          <a:stretch>
            <a:fillRect/>
          </a:stretch>
        </p:blipFill>
        <p:spPr>
          <a:xfrm>
            <a:off x="9762514" y="5814004"/>
            <a:ext cx="1965960" cy="414639"/>
          </a:xfrm>
          <a:prstGeom prst="rect">
            <a:avLst/>
          </a:prstGeom>
        </p:spPr>
      </p:pic>
      <p:sp>
        <p:nvSpPr>
          <p:cNvPr id="5" name="TextBox 4"/>
          <p:cNvSpPr txBox="1"/>
          <p:nvPr/>
        </p:nvSpPr>
        <p:spPr>
          <a:xfrm>
            <a:off x="11109960" y="6321960"/>
            <a:ext cx="347472" cy="230832"/>
          </a:xfrm>
          <a:prstGeom prst="rect">
            <a:avLst/>
          </a:prstGeom>
          <a:noFill/>
        </p:spPr>
        <p:txBody>
          <a:bodyPr wrap="square" anchor="ctr">
            <a:spAutoFit/>
          </a:bodyPr>
          <a:lstStyle/>
          <a:p>
            <a:pPr algn="r"/>
            <a:r>
              <a:rPr sz="900" b="1" dirty="0">
                <a:solidFill>
                  <a:srgbClr val="525254"/>
                </a:solidFill>
                <a:latin typeface="Roboto Condensed"/>
              </a:rPr>
              <a:t>0</a:t>
            </a:r>
            <a:r>
              <a:rPr lang="en-IN" sz="900" b="1" dirty="0">
                <a:solidFill>
                  <a:srgbClr val="525254"/>
                </a:solidFill>
                <a:latin typeface="Roboto Condensed"/>
              </a:rPr>
              <a:t>3</a:t>
            </a:r>
            <a:endParaRPr sz="900" b="1" dirty="0">
              <a:solidFill>
                <a:srgbClr val="525254"/>
              </a:solidFill>
              <a:latin typeface="Roboto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65760"/>
            <a:ext cx="10332720" cy="566928"/>
          </a:xfrm>
          <a:prstGeom prst="rect">
            <a:avLst/>
          </a:prstGeom>
          <a:noFill/>
        </p:spPr>
        <p:txBody>
          <a:bodyPr wrap="square" anchor="ctr">
            <a:spAutoFit/>
          </a:bodyPr>
          <a:lstStyle/>
          <a:p>
            <a:pPr algn="ctr"/>
            <a:r>
              <a:rPr sz="3100" b="1">
                <a:solidFill>
                  <a:srgbClr val="DD242C"/>
                </a:solidFill>
                <a:latin typeface="Roboto Condensed"/>
              </a:rPr>
              <a:t>Problem Statement &amp; Objectives</a:t>
            </a:r>
          </a:p>
        </p:txBody>
      </p:sp>
      <p:sp>
        <p:nvSpPr>
          <p:cNvPr id="3" name="TextBox 2"/>
          <p:cNvSpPr txBox="1"/>
          <p:nvPr/>
        </p:nvSpPr>
        <p:spPr>
          <a:xfrm>
            <a:off x="914400" y="1234440"/>
            <a:ext cx="2743200" cy="365760"/>
          </a:xfrm>
          <a:prstGeom prst="rect">
            <a:avLst/>
          </a:prstGeom>
          <a:noFill/>
        </p:spPr>
        <p:txBody>
          <a:bodyPr wrap="square" anchor="ctr">
            <a:spAutoFit/>
          </a:bodyPr>
          <a:lstStyle/>
          <a:p>
            <a:pPr algn="l"/>
            <a:r>
              <a:rPr sz="2100" b="1">
                <a:solidFill>
                  <a:srgbClr val="DD242C"/>
                </a:solidFill>
                <a:latin typeface="Roboto Condensed"/>
              </a:rPr>
              <a:t>Problem Statement</a:t>
            </a:r>
          </a:p>
        </p:txBody>
      </p:sp>
      <p:sp>
        <p:nvSpPr>
          <p:cNvPr id="4" name="TextBox 3"/>
          <p:cNvSpPr txBox="1"/>
          <p:nvPr/>
        </p:nvSpPr>
        <p:spPr>
          <a:xfrm>
            <a:off x="914400" y="1673352"/>
            <a:ext cx="10104120" cy="822960"/>
          </a:xfrm>
          <a:prstGeom prst="rect">
            <a:avLst/>
          </a:prstGeom>
          <a:noFill/>
        </p:spPr>
        <p:txBody>
          <a:bodyPr wrap="square" anchor="ctr">
            <a:spAutoFit/>
          </a:bodyPr>
          <a:lstStyle/>
          <a:p>
            <a:pPr algn="l"/>
            <a:r>
              <a:rPr sz="1520" b="0">
                <a:solidFill>
                  <a:srgbClr val="1E1E20"/>
                </a:solidFill>
                <a:latin typeface="Roboto Condensed"/>
              </a:rPr>
              <a:t>Develop a structured MySQL database and use SQL analysis to understand customer relationships, account usage, transaction behaviour, loan performance and card engagement.</a:t>
            </a:r>
          </a:p>
        </p:txBody>
      </p:sp>
      <p:sp>
        <p:nvSpPr>
          <p:cNvPr id="5" name="TextBox 4"/>
          <p:cNvSpPr txBox="1"/>
          <p:nvPr/>
        </p:nvSpPr>
        <p:spPr>
          <a:xfrm>
            <a:off x="914400" y="2743200"/>
            <a:ext cx="2103120" cy="365760"/>
          </a:xfrm>
          <a:prstGeom prst="rect">
            <a:avLst/>
          </a:prstGeom>
          <a:noFill/>
        </p:spPr>
        <p:txBody>
          <a:bodyPr wrap="square" anchor="ctr">
            <a:spAutoFit/>
          </a:bodyPr>
          <a:lstStyle/>
          <a:p>
            <a:pPr algn="l"/>
            <a:r>
              <a:rPr sz="2100" b="1">
                <a:solidFill>
                  <a:srgbClr val="DD242C"/>
                </a:solidFill>
                <a:latin typeface="Roboto Condensed"/>
              </a:rPr>
              <a:t>Objectives</a:t>
            </a:r>
          </a:p>
        </p:txBody>
      </p:sp>
      <p:sp>
        <p:nvSpPr>
          <p:cNvPr id="6" name="TextBox 5"/>
          <p:cNvSpPr txBox="1"/>
          <p:nvPr/>
        </p:nvSpPr>
        <p:spPr>
          <a:xfrm>
            <a:off x="914400" y="3172968"/>
            <a:ext cx="10104120" cy="2011680"/>
          </a:xfrm>
          <a:prstGeom prst="rect">
            <a:avLst/>
          </a:prstGeom>
          <a:noFill/>
        </p:spPr>
        <p:txBody>
          <a:bodyPr wrap="square">
            <a:spAutoFit/>
          </a:bodyPr>
          <a:lstStyle/>
          <a:p>
            <a:pPr>
              <a:spcAft>
                <a:spcPts val="700"/>
              </a:spcAft>
              <a:defRPr sz="1530">
                <a:solidFill>
                  <a:srgbClr val="1E1E20"/>
                </a:solidFill>
                <a:latin typeface="Roboto Condensed"/>
              </a:defRPr>
            </a:pPr>
            <a:r>
              <a:t>➢ Build and validate the relational database from the ER model.</a:t>
            </a:r>
          </a:p>
          <a:p>
            <a:pPr>
              <a:spcAft>
                <a:spcPts val="700"/>
              </a:spcAft>
              <a:defRPr sz="1530">
                <a:solidFill>
                  <a:srgbClr val="1E1E20"/>
                </a:solidFill>
                <a:latin typeface="Roboto Condensed"/>
              </a:defRPr>
            </a:pPr>
            <a:r>
              <a:t>➢ Answer Sprint 3 basic analysis questions.</a:t>
            </a:r>
          </a:p>
          <a:p>
            <a:pPr>
              <a:spcAft>
                <a:spcPts val="700"/>
              </a:spcAft>
              <a:defRPr sz="1530">
                <a:solidFill>
                  <a:srgbClr val="1E1E20"/>
                </a:solidFill>
                <a:latin typeface="Roboto Condensed"/>
              </a:defRPr>
            </a:pPr>
            <a:r>
              <a:t>➢ Formulate and answer Sprint 4 objective-based questions.</a:t>
            </a:r>
          </a:p>
          <a:p>
            <a:pPr>
              <a:spcAft>
                <a:spcPts val="700"/>
              </a:spcAft>
              <a:defRPr sz="1530">
                <a:solidFill>
                  <a:srgbClr val="1E1E20"/>
                </a:solidFill>
                <a:latin typeface="Roboto Condensed"/>
              </a:defRPr>
            </a:pPr>
            <a:r>
              <a:t>➢ Interpret SQL outputs into findings, recommendations and business insights.</a:t>
            </a:r>
          </a:p>
        </p:txBody>
      </p:sp>
      <p:pic>
        <p:nvPicPr>
          <p:cNvPr id="7" name="Picture 6" descr="innomatics_logo_clean.png"/>
          <p:cNvPicPr>
            <a:picLocks noChangeAspect="1"/>
          </p:cNvPicPr>
          <p:nvPr/>
        </p:nvPicPr>
        <p:blipFill>
          <a:blip r:embed="rId2"/>
          <a:stretch>
            <a:fillRect/>
          </a:stretch>
        </p:blipFill>
        <p:spPr>
          <a:xfrm>
            <a:off x="9633118" y="5653984"/>
            <a:ext cx="1965960" cy="414639"/>
          </a:xfrm>
          <a:prstGeom prst="rect">
            <a:avLst/>
          </a:prstGeom>
        </p:spPr>
      </p:pic>
      <p:sp>
        <p:nvSpPr>
          <p:cNvPr id="8" name="TextBox 7"/>
          <p:cNvSpPr txBox="1"/>
          <p:nvPr/>
        </p:nvSpPr>
        <p:spPr>
          <a:xfrm>
            <a:off x="11109960" y="6321960"/>
            <a:ext cx="347472" cy="230832"/>
          </a:xfrm>
          <a:prstGeom prst="rect">
            <a:avLst/>
          </a:prstGeom>
          <a:noFill/>
        </p:spPr>
        <p:txBody>
          <a:bodyPr wrap="square" anchor="ctr">
            <a:spAutoFit/>
          </a:bodyPr>
          <a:lstStyle/>
          <a:p>
            <a:pPr algn="r"/>
            <a:r>
              <a:rPr sz="900" b="1" dirty="0">
                <a:solidFill>
                  <a:srgbClr val="525254"/>
                </a:solidFill>
                <a:latin typeface="Roboto Condensed"/>
              </a:rPr>
              <a:t>0</a:t>
            </a:r>
            <a:r>
              <a:rPr lang="en-IN" sz="900" b="1" dirty="0">
                <a:solidFill>
                  <a:srgbClr val="525254"/>
                </a:solidFill>
                <a:latin typeface="Roboto Condensed"/>
              </a:rPr>
              <a:t>4</a:t>
            </a:r>
            <a:endParaRPr sz="900" b="1" dirty="0">
              <a:solidFill>
                <a:srgbClr val="525254"/>
              </a:solidFill>
              <a:latin typeface="Roboto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1486" y="82296"/>
            <a:ext cx="10332720" cy="566928"/>
          </a:xfrm>
          <a:prstGeom prst="rect">
            <a:avLst/>
          </a:prstGeom>
          <a:noFill/>
        </p:spPr>
        <p:txBody>
          <a:bodyPr wrap="square" anchor="ctr">
            <a:spAutoFit/>
          </a:bodyPr>
          <a:lstStyle/>
          <a:p>
            <a:pPr algn="ctr"/>
            <a:r>
              <a:rPr sz="3100" b="1" dirty="0">
                <a:solidFill>
                  <a:srgbClr val="DD242C"/>
                </a:solidFill>
                <a:latin typeface="Roboto Condensed"/>
              </a:rPr>
              <a:t>Data Description</a:t>
            </a:r>
          </a:p>
        </p:txBody>
      </p:sp>
      <p:graphicFrame>
        <p:nvGraphicFramePr>
          <p:cNvPr id="3" name="Table 2"/>
          <p:cNvGraphicFramePr>
            <a:graphicFrameLocks noGrp="1"/>
          </p:cNvGraphicFramePr>
          <p:nvPr>
            <p:extLst>
              <p:ext uri="{D42A27DB-BD31-4B8C-83A1-F6EECF244321}">
                <p14:modId xmlns:p14="http://schemas.microsoft.com/office/powerpoint/2010/main" val="1829610982"/>
              </p:ext>
            </p:extLst>
          </p:nvPr>
        </p:nvGraphicFramePr>
        <p:xfrm>
          <a:off x="822960" y="835555"/>
          <a:ext cx="10287000" cy="4526280"/>
        </p:xfrm>
        <a:graphic>
          <a:graphicData uri="http://schemas.openxmlformats.org/drawingml/2006/table">
            <a:tbl>
              <a:tblPr firstRow="1" bandRow="1">
                <a:tableStyleId>{5C22544A-7EE6-4342-B048-85BDC9FD1C3A}</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565785">
                <a:tc>
                  <a:txBody>
                    <a:bodyPr/>
                    <a:lstStyle/>
                    <a:p>
                      <a:pPr algn="l"/>
                      <a:r>
                        <a:rPr sz="1300" b="1">
                          <a:solidFill>
                            <a:srgbClr val="FFFFFF"/>
                          </a:solidFill>
                          <a:latin typeface="Roboto Condensed"/>
                        </a:rPr>
                        <a:t>Table Name</a:t>
                      </a:r>
                    </a:p>
                  </a:txBody>
                  <a:tcPr>
                    <a:solidFill>
                      <a:srgbClr val="EE7E23"/>
                    </a:solidFill>
                  </a:tcPr>
                </a:tc>
                <a:tc>
                  <a:txBody>
                    <a:bodyPr/>
                    <a:lstStyle/>
                    <a:p>
                      <a:pPr algn="l"/>
                      <a:r>
                        <a:rPr sz="1300" b="1">
                          <a:solidFill>
                            <a:srgbClr val="FFFFFF"/>
                          </a:solidFill>
                          <a:latin typeface="Roboto Condensed"/>
                        </a:rPr>
                        <a:t>Description</a:t>
                      </a:r>
                    </a:p>
                  </a:txBody>
                  <a:tcPr>
                    <a:solidFill>
                      <a:srgbClr val="EE7E23"/>
                    </a:solidFill>
                  </a:tcPr>
                </a:tc>
                <a:extLst>
                  <a:ext uri="{0D108BD9-81ED-4DB2-BD59-A6C34878D82A}">
                    <a16:rowId xmlns:a16="http://schemas.microsoft.com/office/drawing/2014/main" val="10000"/>
                  </a:ext>
                </a:extLst>
              </a:tr>
              <a:tr h="565785">
                <a:tc>
                  <a:txBody>
                    <a:bodyPr/>
                    <a:lstStyle/>
                    <a:p>
                      <a:pPr algn="l"/>
                      <a:r>
                        <a:rPr sz="1300">
                          <a:solidFill>
                            <a:srgbClr val="1E1E20"/>
                          </a:solidFill>
                          <a:latin typeface="Roboto Condensed"/>
                        </a:rPr>
                        <a:t>customers</a:t>
                      </a:r>
                    </a:p>
                  </a:txBody>
                  <a:tcPr>
                    <a:solidFill>
                      <a:srgbClr val="F9DED3"/>
                    </a:solidFill>
                  </a:tcPr>
                </a:tc>
                <a:tc>
                  <a:txBody>
                    <a:bodyPr/>
                    <a:lstStyle/>
                    <a:p>
                      <a:pPr algn="l"/>
                      <a:r>
                        <a:rPr sz="1300">
                          <a:solidFill>
                            <a:srgbClr val="1E1E20"/>
                          </a:solidFill>
                          <a:latin typeface="Roboto Condensed"/>
                        </a:rPr>
                        <a:t>Customer master data</a:t>
                      </a:r>
                    </a:p>
                  </a:txBody>
                  <a:tcPr>
                    <a:solidFill>
                      <a:srgbClr val="F9DED3"/>
                    </a:solidFill>
                  </a:tcPr>
                </a:tc>
                <a:extLst>
                  <a:ext uri="{0D108BD9-81ED-4DB2-BD59-A6C34878D82A}">
                    <a16:rowId xmlns:a16="http://schemas.microsoft.com/office/drawing/2014/main" val="10001"/>
                  </a:ext>
                </a:extLst>
              </a:tr>
              <a:tr h="565785">
                <a:tc>
                  <a:txBody>
                    <a:bodyPr/>
                    <a:lstStyle/>
                    <a:p>
                      <a:pPr algn="l"/>
                      <a:r>
                        <a:rPr sz="1300">
                          <a:solidFill>
                            <a:srgbClr val="1E1E20"/>
                          </a:solidFill>
                          <a:latin typeface="Roboto Condensed"/>
                        </a:rPr>
                        <a:t>accounts</a:t>
                      </a:r>
                    </a:p>
                  </a:txBody>
                  <a:tcPr>
                    <a:solidFill>
                      <a:srgbClr val="FFFFFF"/>
                    </a:solidFill>
                  </a:tcPr>
                </a:tc>
                <a:tc>
                  <a:txBody>
                    <a:bodyPr/>
                    <a:lstStyle/>
                    <a:p>
                      <a:pPr algn="l"/>
                      <a:r>
                        <a:rPr sz="1300" dirty="0">
                          <a:solidFill>
                            <a:srgbClr val="1E1E20"/>
                          </a:solidFill>
                          <a:latin typeface="Roboto Condensed"/>
                        </a:rPr>
                        <a:t>Bank account information</a:t>
                      </a:r>
                    </a:p>
                  </a:txBody>
                  <a:tcPr>
                    <a:solidFill>
                      <a:srgbClr val="FFFFFF"/>
                    </a:solidFill>
                  </a:tcPr>
                </a:tc>
                <a:extLst>
                  <a:ext uri="{0D108BD9-81ED-4DB2-BD59-A6C34878D82A}">
                    <a16:rowId xmlns:a16="http://schemas.microsoft.com/office/drawing/2014/main" val="10002"/>
                  </a:ext>
                </a:extLst>
              </a:tr>
              <a:tr h="565785">
                <a:tc>
                  <a:txBody>
                    <a:bodyPr/>
                    <a:lstStyle/>
                    <a:p>
                      <a:pPr algn="l"/>
                      <a:r>
                        <a:rPr sz="1300">
                          <a:solidFill>
                            <a:srgbClr val="1E1E20"/>
                          </a:solidFill>
                          <a:latin typeface="Roboto Condensed"/>
                        </a:rPr>
                        <a:t>branches</a:t>
                      </a:r>
                    </a:p>
                  </a:txBody>
                  <a:tcPr>
                    <a:solidFill>
                      <a:srgbClr val="F9DED3"/>
                    </a:solidFill>
                  </a:tcPr>
                </a:tc>
                <a:tc>
                  <a:txBody>
                    <a:bodyPr/>
                    <a:lstStyle/>
                    <a:p>
                      <a:pPr algn="l"/>
                      <a:r>
                        <a:rPr sz="1300">
                          <a:solidFill>
                            <a:srgbClr val="1E1E20"/>
                          </a:solidFill>
                          <a:latin typeface="Roboto Condensed"/>
                        </a:rPr>
                        <a:t>Branch master data</a:t>
                      </a:r>
                    </a:p>
                  </a:txBody>
                  <a:tcPr>
                    <a:solidFill>
                      <a:srgbClr val="F9DED3"/>
                    </a:solidFill>
                  </a:tcPr>
                </a:tc>
                <a:extLst>
                  <a:ext uri="{0D108BD9-81ED-4DB2-BD59-A6C34878D82A}">
                    <a16:rowId xmlns:a16="http://schemas.microsoft.com/office/drawing/2014/main" val="10003"/>
                  </a:ext>
                </a:extLst>
              </a:tr>
              <a:tr h="565785">
                <a:tc>
                  <a:txBody>
                    <a:bodyPr/>
                    <a:lstStyle/>
                    <a:p>
                      <a:pPr algn="l"/>
                      <a:r>
                        <a:rPr sz="1300">
                          <a:solidFill>
                            <a:srgbClr val="1E1E20"/>
                          </a:solidFill>
                          <a:latin typeface="Roboto Condensed"/>
                        </a:rPr>
                        <a:t>loans</a:t>
                      </a:r>
                    </a:p>
                  </a:txBody>
                  <a:tcPr>
                    <a:solidFill>
                      <a:srgbClr val="FFFFFF"/>
                    </a:solidFill>
                  </a:tcPr>
                </a:tc>
                <a:tc>
                  <a:txBody>
                    <a:bodyPr/>
                    <a:lstStyle/>
                    <a:p>
                      <a:pPr algn="l"/>
                      <a:r>
                        <a:rPr sz="1300">
                          <a:solidFill>
                            <a:srgbClr val="1E1E20"/>
                          </a:solidFill>
                          <a:latin typeface="Roboto Condensed"/>
                        </a:rPr>
                        <a:t>Loan portfolio information</a:t>
                      </a:r>
                    </a:p>
                  </a:txBody>
                  <a:tcPr>
                    <a:solidFill>
                      <a:srgbClr val="FFFFFF"/>
                    </a:solidFill>
                  </a:tcPr>
                </a:tc>
                <a:extLst>
                  <a:ext uri="{0D108BD9-81ED-4DB2-BD59-A6C34878D82A}">
                    <a16:rowId xmlns:a16="http://schemas.microsoft.com/office/drawing/2014/main" val="10004"/>
                  </a:ext>
                </a:extLst>
              </a:tr>
              <a:tr h="565785">
                <a:tc>
                  <a:txBody>
                    <a:bodyPr/>
                    <a:lstStyle/>
                    <a:p>
                      <a:pPr algn="l"/>
                      <a:r>
                        <a:rPr sz="1300">
                          <a:solidFill>
                            <a:srgbClr val="1E1E20"/>
                          </a:solidFill>
                          <a:latin typeface="Roboto Condensed"/>
                        </a:rPr>
                        <a:t>loan_payments</a:t>
                      </a:r>
                    </a:p>
                  </a:txBody>
                  <a:tcPr>
                    <a:solidFill>
                      <a:srgbClr val="F9DED3"/>
                    </a:solidFill>
                  </a:tcPr>
                </a:tc>
                <a:tc>
                  <a:txBody>
                    <a:bodyPr/>
                    <a:lstStyle/>
                    <a:p>
                      <a:pPr algn="l"/>
                      <a:r>
                        <a:rPr sz="1300">
                          <a:solidFill>
                            <a:srgbClr val="1E1E20"/>
                          </a:solidFill>
                          <a:latin typeface="Roboto Condensed"/>
                        </a:rPr>
                        <a:t>Loan repayment history</a:t>
                      </a:r>
                    </a:p>
                  </a:txBody>
                  <a:tcPr>
                    <a:solidFill>
                      <a:srgbClr val="F9DED3"/>
                    </a:solidFill>
                  </a:tcPr>
                </a:tc>
                <a:extLst>
                  <a:ext uri="{0D108BD9-81ED-4DB2-BD59-A6C34878D82A}">
                    <a16:rowId xmlns:a16="http://schemas.microsoft.com/office/drawing/2014/main" val="10005"/>
                  </a:ext>
                </a:extLst>
              </a:tr>
              <a:tr h="565785">
                <a:tc>
                  <a:txBody>
                    <a:bodyPr/>
                    <a:lstStyle/>
                    <a:p>
                      <a:pPr algn="l"/>
                      <a:r>
                        <a:rPr sz="1300">
                          <a:solidFill>
                            <a:srgbClr val="1E1E20"/>
                          </a:solidFill>
                          <a:latin typeface="Roboto Condensed"/>
                        </a:rPr>
                        <a:t>cards</a:t>
                      </a:r>
                    </a:p>
                  </a:txBody>
                  <a:tcPr>
                    <a:solidFill>
                      <a:srgbClr val="FFFFFF"/>
                    </a:solidFill>
                  </a:tcPr>
                </a:tc>
                <a:tc>
                  <a:txBody>
                    <a:bodyPr/>
                    <a:lstStyle/>
                    <a:p>
                      <a:pPr algn="l"/>
                      <a:r>
                        <a:rPr sz="1300">
                          <a:solidFill>
                            <a:srgbClr val="1E1E20"/>
                          </a:solidFill>
                          <a:latin typeface="Roboto Condensed"/>
                        </a:rPr>
                        <a:t>Card product information</a:t>
                      </a:r>
                    </a:p>
                  </a:txBody>
                  <a:tcPr>
                    <a:solidFill>
                      <a:srgbClr val="FFFFFF"/>
                    </a:solidFill>
                  </a:tcPr>
                </a:tc>
                <a:extLst>
                  <a:ext uri="{0D108BD9-81ED-4DB2-BD59-A6C34878D82A}">
                    <a16:rowId xmlns:a16="http://schemas.microsoft.com/office/drawing/2014/main" val="10006"/>
                  </a:ext>
                </a:extLst>
              </a:tr>
              <a:tr h="565785">
                <a:tc>
                  <a:txBody>
                    <a:bodyPr/>
                    <a:lstStyle/>
                    <a:p>
                      <a:pPr algn="l"/>
                      <a:r>
                        <a:rPr sz="1300">
                          <a:solidFill>
                            <a:srgbClr val="1E1E20"/>
                          </a:solidFill>
                          <a:latin typeface="Roboto Condensed"/>
                        </a:rPr>
                        <a:t>transactions</a:t>
                      </a:r>
                    </a:p>
                  </a:txBody>
                  <a:tcPr>
                    <a:solidFill>
                      <a:srgbClr val="F9DED3"/>
                    </a:solidFill>
                  </a:tcPr>
                </a:tc>
                <a:tc>
                  <a:txBody>
                    <a:bodyPr/>
                    <a:lstStyle/>
                    <a:p>
                      <a:pPr algn="l"/>
                      <a:r>
                        <a:rPr sz="1300" dirty="0">
                          <a:solidFill>
                            <a:srgbClr val="1E1E20"/>
                          </a:solidFill>
                          <a:latin typeface="Roboto Condensed"/>
                        </a:rPr>
                        <a:t>Customer account activity</a:t>
                      </a:r>
                    </a:p>
                  </a:txBody>
                  <a:tcPr>
                    <a:solidFill>
                      <a:srgbClr val="F9DED3"/>
                    </a:solidFill>
                  </a:tcPr>
                </a:tc>
                <a:extLst>
                  <a:ext uri="{0D108BD9-81ED-4DB2-BD59-A6C34878D82A}">
                    <a16:rowId xmlns:a16="http://schemas.microsoft.com/office/drawing/2014/main" val="10007"/>
                  </a:ext>
                </a:extLst>
              </a:tr>
            </a:tbl>
          </a:graphicData>
        </a:graphic>
      </p:graphicFrame>
      <p:sp>
        <p:nvSpPr>
          <p:cNvPr id="4" name="TextBox 3"/>
          <p:cNvSpPr txBox="1"/>
          <p:nvPr/>
        </p:nvSpPr>
        <p:spPr>
          <a:xfrm>
            <a:off x="960120" y="5833872"/>
            <a:ext cx="10149840" cy="310896"/>
          </a:xfrm>
          <a:prstGeom prst="rect">
            <a:avLst/>
          </a:prstGeom>
          <a:noFill/>
        </p:spPr>
        <p:txBody>
          <a:bodyPr wrap="square" anchor="ctr">
            <a:spAutoFit/>
          </a:bodyPr>
          <a:lstStyle/>
          <a:p>
            <a:pPr algn="ctr"/>
            <a:r>
              <a:rPr sz="1140" b="1">
                <a:solidFill>
                  <a:srgbClr val="DD242C"/>
                </a:solidFill>
                <a:latin typeface="Roboto Condensed"/>
              </a:rPr>
              <a:t>500 customers • 700 accounts • 40 branches • 300 loans • 2,000 loan payments • 600 cards • 5,000 transactions</a:t>
            </a:r>
          </a:p>
        </p:txBody>
      </p:sp>
      <p:pic>
        <p:nvPicPr>
          <p:cNvPr id="5" name="Picture 4" descr="innomatics_logo_clean.png"/>
          <p:cNvPicPr>
            <a:picLocks noChangeAspect="1"/>
          </p:cNvPicPr>
          <p:nvPr/>
        </p:nvPicPr>
        <p:blipFill>
          <a:blip r:embed="rId2"/>
          <a:stretch>
            <a:fillRect/>
          </a:stretch>
        </p:blipFill>
        <p:spPr>
          <a:xfrm>
            <a:off x="9710755" y="5654615"/>
            <a:ext cx="1965960" cy="414639"/>
          </a:xfrm>
          <a:prstGeom prst="rect">
            <a:avLst/>
          </a:prstGeom>
        </p:spPr>
      </p:pic>
      <p:sp>
        <p:nvSpPr>
          <p:cNvPr id="6" name="TextBox 5"/>
          <p:cNvSpPr txBox="1"/>
          <p:nvPr/>
        </p:nvSpPr>
        <p:spPr>
          <a:xfrm>
            <a:off x="11109960" y="6321960"/>
            <a:ext cx="347472" cy="230832"/>
          </a:xfrm>
          <a:prstGeom prst="rect">
            <a:avLst/>
          </a:prstGeom>
          <a:noFill/>
        </p:spPr>
        <p:txBody>
          <a:bodyPr wrap="square" anchor="ctr">
            <a:spAutoFit/>
          </a:bodyPr>
          <a:lstStyle/>
          <a:p>
            <a:pPr algn="r"/>
            <a:r>
              <a:rPr sz="900" b="1" dirty="0">
                <a:solidFill>
                  <a:srgbClr val="525254"/>
                </a:solidFill>
                <a:latin typeface="Roboto Condensed"/>
              </a:rPr>
              <a:t>0</a:t>
            </a:r>
            <a:r>
              <a:rPr lang="en-IN" sz="900" b="1" dirty="0">
                <a:solidFill>
                  <a:srgbClr val="525254"/>
                </a:solidFill>
                <a:latin typeface="Roboto Condensed"/>
              </a:rPr>
              <a:t>5</a:t>
            </a:r>
            <a:endParaRPr sz="900" b="1" dirty="0">
              <a:solidFill>
                <a:srgbClr val="525254"/>
              </a:solidFill>
              <a:latin typeface="Roboto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3849" y="-3968"/>
            <a:ext cx="10332720" cy="566928"/>
          </a:xfrm>
          <a:prstGeom prst="rect">
            <a:avLst/>
          </a:prstGeom>
          <a:noFill/>
        </p:spPr>
        <p:txBody>
          <a:bodyPr wrap="square" anchor="ctr">
            <a:spAutoFit/>
          </a:bodyPr>
          <a:lstStyle/>
          <a:p>
            <a:pPr algn="ctr"/>
            <a:r>
              <a:rPr sz="3100" b="1" dirty="0">
                <a:solidFill>
                  <a:srgbClr val="DD242C"/>
                </a:solidFill>
                <a:latin typeface="Roboto Condensed"/>
              </a:rPr>
              <a:t>ER Diagram</a:t>
            </a:r>
          </a:p>
        </p:txBody>
      </p:sp>
      <p:pic>
        <p:nvPicPr>
          <p:cNvPr id="3" name="Picture 2" descr="retail_banking_er_diagram.png"/>
          <p:cNvPicPr>
            <a:picLocks noChangeAspect="1"/>
          </p:cNvPicPr>
          <p:nvPr/>
        </p:nvPicPr>
        <p:blipFill>
          <a:blip r:embed="rId2"/>
          <a:stretch>
            <a:fillRect/>
          </a:stretch>
        </p:blipFill>
        <p:spPr>
          <a:xfrm>
            <a:off x="2152920" y="580162"/>
            <a:ext cx="7644619" cy="5697675"/>
          </a:xfrm>
          <a:prstGeom prst="rect">
            <a:avLst/>
          </a:prstGeom>
        </p:spPr>
      </p:pic>
      <p:pic>
        <p:nvPicPr>
          <p:cNvPr id="5" name="Picture 4" descr="innomatics_logo_clean.png"/>
          <p:cNvPicPr>
            <a:picLocks noChangeAspect="1"/>
          </p:cNvPicPr>
          <p:nvPr/>
        </p:nvPicPr>
        <p:blipFill>
          <a:blip r:embed="rId3"/>
          <a:stretch>
            <a:fillRect/>
          </a:stretch>
        </p:blipFill>
        <p:spPr>
          <a:xfrm>
            <a:off x="10126980" y="5974024"/>
            <a:ext cx="1965960" cy="414639"/>
          </a:xfrm>
          <a:prstGeom prst="rect">
            <a:avLst/>
          </a:prstGeom>
        </p:spPr>
      </p:pic>
      <p:sp>
        <p:nvSpPr>
          <p:cNvPr id="6" name="TextBox 5"/>
          <p:cNvSpPr txBox="1"/>
          <p:nvPr/>
        </p:nvSpPr>
        <p:spPr>
          <a:xfrm>
            <a:off x="11109960" y="6321960"/>
            <a:ext cx="347472" cy="230832"/>
          </a:xfrm>
          <a:prstGeom prst="rect">
            <a:avLst/>
          </a:prstGeom>
          <a:noFill/>
        </p:spPr>
        <p:txBody>
          <a:bodyPr wrap="square" anchor="ctr">
            <a:spAutoFit/>
          </a:bodyPr>
          <a:lstStyle/>
          <a:p>
            <a:pPr algn="r"/>
            <a:r>
              <a:rPr sz="900" b="1" dirty="0">
                <a:solidFill>
                  <a:srgbClr val="525254"/>
                </a:solidFill>
                <a:latin typeface="Roboto Condensed"/>
              </a:rPr>
              <a:t>0</a:t>
            </a:r>
            <a:r>
              <a:rPr lang="en-IN" sz="900" b="1" dirty="0">
                <a:solidFill>
                  <a:srgbClr val="525254"/>
                </a:solidFill>
                <a:latin typeface="Roboto Condensed"/>
              </a:rPr>
              <a:t>6</a:t>
            </a:r>
            <a:endParaRPr sz="900" b="1" dirty="0">
              <a:solidFill>
                <a:srgbClr val="525254"/>
              </a:solidFill>
              <a:latin typeface="Roboto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65760"/>
            <a:ext cx="10332720" cy="566928"/>
          </a:xfrm>
          <a:prstGeom prst="rect">
            <a:avLst/>
          </a:prstGeom>
          <a:noFill/>
        </p:spPr>
        <p:txBody>
          <a:bodyPr wrap="square" anchor="ctr">
            <a:spAutoFit/>
          </a:bodyPr>
          <a:lstStyle/>
          <a:p>
            <a:pPr algn="ctr"/>
            <a:r>
              <a:rPr sz="3100" b="1">
                <a:solidFill>
                  <a:srgbClr val="DD242C"/>
                </a:solidFill>
                <a:latin typeface="Roboto Condensed"/>
              </a:rPr>
              <a:t>SQL Analysis Framework</a:t>
            </a:r>
          </a:p>
        </p:txBody>
      </p:sp>
      <p:graphicFrame>
        <p:nvGraphicFramePr>
          <p:cNvPr id="3" name="Table 2"/>
          <p:cNvGraphicFramePr>
            <a:graphicFrameLocks noGrp="1"/>
          </p:cNvGraphicFramePr>
          <p:nvPr/>
        </p:nvGraphicFramePr>
        <p:xfrm>
          <a:off x="914400" y="1325880"/>
          <a:ext cx="10287000" cy="4297680"/>
        </p:xfrm>
        <a:graphic>
          <a:graphicData uri="http://schemas.openxmlformats.org/drawingml/2006/table">
            <a:tbl>
              <a:tblPr firstRow="1" bandRow="1">
                <a:tableStyleId>{5C22544A-7EE6-4342-B048-85BDC9FD1C3A}</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716280">
                <a:tc>
                  <a:txBody>
                    <a:bodyPr/>
                    <a:lstStyle/>
                    <a:p>
                      <a:pPr algn="l"/>
                      <a:r>
                        <a:rPr sz="1230" b="1">
                          <a:solidFill>
                            <a:srgbClr val="FFFFFF"/>
                          </a:solidFill>
                          <a:latin typeface="Roboto Condensed"/>
                        </a:rPr>
                        <a:t>Analysis Area</a:t>
                      </a:r>
                    </a:p>
                  </a:txBody>
                  <a:tcPr>
                    <a:solidFill>
                      <a:srgbClr val="EE7E23"/>
                    </a:solidFill>
                  </a:tcPr>
                </a:tc>
                <a:tc>
                  <a:txBody>
                    <a:bodyPr/>
                    <a:lstStyle/>
                    <a:p>
                      <a:pPr algn="l"/>
                      <a:r>
                        <a:rPr sz="1230" b="1">
                          <a:solidFill>
                            <a:srgbClr val="FFFFFF"/>
                          </a:solidFill>
                          <a:latin typeface="Roboto Condensed"/>
                        </a:rPr>
                        <a:t>Focus</a:t>
                      </a:r>
                    </a:p>
                  </a:txBody>
                  <a:tcPr>
                    <a:solidFill>
                      <a:srgbClr val="EE7E23"/>
                    </a:solidFill>
                  </a:tcPr>
                </a:tc>
                <a:extLst>
                  <a:ext uri="{0D108BD9-81ED-4DB2-BD59-A6C34878D82A}">
                    <a16:rowId xmlns:a16="http://schemas.microsoft.com/office/drawing/2014/main" val="10000"/>
                  </a:ext>
                </a:extLst>
              </a:tr>
              <a:tr h="716280">
                <a:tc>
                  <a:txBody>
                    <a:bodyPr/>
                    <a:lstStyle/>
                    <a:p>
                      <a:pPr algn="l"/>
                      <a:r>
                        <a:rPr sz="1230">
                          <a:solidFill>
                            <a:srgbClr val="1E1E20"/>
                          </a:solidFill>
                          <a:latin typeface="Roboto Condensed"/>
                        </a:rPr>
                        <a:t>Customer Insights</a:t>
                      </a:r>
                    </a:p>
                  </a:txBody>
                  <a:tcPr>
                    <a:solidFill>
                      <a:srgbClr val="F9DED3"/>
                    </a:solidFill>
                  </a:tcPr>
                </a:tc>
                <a:tc>
                  <a:txBody>
                    <a:bodyPr/>
                    <a:lstStyle/>
                    <a:p>
                      <a:pPr algn="l"/>
                      <a:r>
                        <a:rPr sz="1230">
                          <a:solidFill>
                            <a:srgbClr val="1E1E20"/>
                          </a:solidFill>
                          <a:latin typeface="Roboto Condensed"/>
                        </a:rPr>
                        <a:t>Segmentation, demographics, income, credit score, activity and tenure</a:t>
                      </a:r>
                    </a:p>
                  </a:txBody>
                  <a:tcPr>
                    <a:solidFill>
                      <a:srgbClr val="F9DED3"/>
                    </a:solidFill>
                  </a:tcPr>
                </a:tc>
                <a:extLst>
                  <a:ext uri="{0D108BD9-81ED-4DB2-BD59-A6C34878D82A}">
                    <a16:rowId xmlns:a16="http://schemas.microsoft.com/office/drawing/2014/main" val="10001"/>
                  </a:ext>
                </a:extLst>
              </a:tr>
              <a:tr h="716280">
                <a:tc>
                  <a:txBody>
                    <a:bodyPr/>
                    <a:lstStyle/>
                    <a:p>
                      <a:pPr algn="l"/>
                      <a:r>
                        <a:rPr sz="1230">
                          <a:solidFill>
                            <a:srgbClr val="1E1E20"/>
                          </a:solidFill>
                          <a:latin typeface="Roboto Condensed"/>
                        </a:rPr>
                        <a:t>Account &amp; Branch</a:t>
                      </a:r>
                    </a:p>
                  </a:txBody>
                  <a:tcPr>
                    <a:solidFill>
                      <a:srgbClr val="FFFFFF"/>
                    </a:solidFill>
                  </a:tcPr>
                </a:tc>
                <a:tc>
                  <a:txBody>
                    <a:bodyPr/>
                    <a:lstStyle/>
                    <a:p>
                      <a:pPr algn="l"/>
                      <a:r>
                        <a:rPr sz="1230">
                          <a:solidFill>
                            <a:srgbClr val="1E1E20"/>
                          </a:solidFill>
                          <a:latin typeface="Roboto Condensed"/>
                        </a:rPr>
                        <a:t>Account types, balances, status, branch activity and interest rates</a:t>
                      </a:r>
                    </a:p>
                  </a:txBody>
                  <a:tcPr>
                    <a:solidFill>
                      <a:srgbClr val="FFFFFF"/>
                    </a:solidFill>
                  </a:tcPr>
                </a:tc>
                <a:extLst>
                  <a:ext uri="{0D108BD9-81ED-4DB2-BD59-A6C34878D82A}">
                    <a16:rowId xmlns:a16="http://schemas.microsoft.com/office/drawing/2014/main" val="10002"/>
                  </a:ext>
                </a:extLst>
              </a:tr>
              <a:tr h="716280">
                <a:tc>
                  <a:txBody>
                    <a:bodyPr/>
                    <a:lstStyle/>
                    <a:p>
                      <a:pPr algn="l"/>
                      <a:r>
                        <a:rPr sz="1230">
                          <a:solidFill>
                            <a:srgbClr val="1E1E20"/>
                          </a:solidFill>
                          <a:latin typeface="Roboto Condensed"/>
                        </a:rPr>
                        <a:t>Transaction Analysis</a:t>
                      </a:r>
                    </a:p>
                  </a:txBody>
                  <a:tcPr>
                    <a:solidFill>
                      <a:srgbClr val="F9DED3"/>
                    </a:solidFill>
                  </a:tcPr>
                </a:tc>
                <a:tc>
                  <a:txBody>
                    <a:bodyPr/>
                    <a:lstStyle/>
                    <a:p>
                      <a:pPr algn="l"/>
                      <a:r>
                        <a:rPr sz="1230">
                          <a:solidFill>
                            <a:srgbClr val="1E1E20"/>
                          </a:solidFill>
                          <a:latin typeface="Roboto Condensed"/>
                        </a:rPr>
                        <a:t>Transaction types, channels, amounts, descriptions and time</a:t>
                      </a:r>
                    </a:p>
                  </a:txBody>
                  <a:tcPr>
                    <a:solidFill>
                      <a:srgbClr val="F9DED3"/>
                    </a:solidFill>
                  </a:tcPr>
                </a:tc>
                <a:extLst>
                  <a:ext uri="{0D108BD9-81ED-4DB2-BD59-A6C34878D82A}">
                    <a16:rowId xmlns:a16="http://schemas.microsoft.com/office/drawing/2014/main" val="10003"/>
                  </a:ext>
                </a:extLst>
              </a:tr>
              <a:tr h="716280">
                <a:tc>
                  <a:txBody>
                    <a:bodyPr/>
                    <a:lstStyle/>
                    <a:p>
                      <a:pPr algn="l"/>
                      <a:r>
                        <a:rPr sz="1230">
                          <a:solidFill>
                            <a:srgbClr val="1E1E20"/>
                          </a:solidFill>
                          <a:latin typeface="Roboto Condensed"/>
                        </a:rPr>
                        <a:t>Loan Performance</a:t>
                      </a:r>
                    </a:p>
                  </a:txBody>
                  <a:tcPr>
                    <a:solidFill>
                      <a:srgbClr val="FFFFFF"/>
                    </a:solidFill>
                  </a:tcPr>
                </a:tc>
                <a:tc>
                  <a:txBody>
                    <a:bodyPr/>
                    <a:lstStyle/>
                    <a:p>
                      <a:pPr algn="l"/>
                      <a:r>
                        <a:rPr sz="1230">
                          <a:solidFill>
                            <a:srgbClr val="1E1E20"/>
                          </a:solidFill>
                          <a:latin typeface="Roboto Condensed"/>
                        </a:rPr>
                        <a:t>Loan types, balances, status, delays, penalties and payment methods</a:t>
                      </a:r>
                    </a:p>
                  </a:txBody>
                  <a:tcPr>
                    <a:solidFill>
                      <a:srgbClr val="FFFFFF"/>
                    </a:solidFill>
                  </a:tcPr>
                </a:tc>
                <a:extLst>
                  <a:ext uri="{0D108BD9-81ED-4DB2-BD59-A6C34878D82A}">
                    <a16:rowId xmlns:a16="http://schemas.microsoft.com/office/drawing/2014/main" val="10004"/>
                  </a:ext>
                </a:extLst>
              </a:tr>
              <a:tr h="716280">
                <a:tc>
                  <a:txBody>
                    <a:bodyPr/>
                    <a:lstStyle/>
                    <a:p>
                      <a:pPr algn="l"/>
                      <a:r>
                        <a:rPr sz="1230">
                          <a:solidFill>
                            <a:srgbClr val="1E1E20"/>
                          </a:solidFill>
                          <a:latin typeface="Roboto Condensed"/>
                        </a:rPr>
                        <a:t>Card &amp; Engagement</a:t>
                      </a:r>
                    </a:p>
                  </a:txBody>
                  <a:tcPr>
                    <a:solidFill>
                      <a:srgbClr val="F9DED3"/>
                    </a:solidFill>
                  </a:tcPr>
                </a:tc>
                <a:tc>
                  <a:txBody>
                    <a:bodyPr/>
                    <a:lstStyle/>
                    <a:p>
                      <a:pPr algn="l"/>
                      <a:r>
                        <a:rPr sz="1230">
                          <a:solidFill>
                            <a:srgbClr val="1E1E20"/>
                          </a:solidFill>
                          <a:latin typeface="Roboto Condensed"/>
                        </a:rPr>
                        <a:t>Card types, credit limits, balances, reward points and cross-product usage</a:t>
                      </a:r>
                    </a:p>
                  </a:txBody>
                  <a:tcPr>
                    <a:solidFill>
                      <a:srgbClr val="F9DED3"/>
                    </a:solidFill>
                  </a:tcPr>
                </a:tc>
                <a:extLst>
                  <a:ext uri="{0D108BD9-81ED-4DB2-BD59-A6C34878D82A}">
                    <a16:rowId xmlns:a16="http://schemas.microsoft.com/office/drawing/2014/main" val="10005"/>
                  </a:ext>
                </a:extLst>
              </a:tr>
            </a:tbl>
          </a:graphicData>
        </a:graphic>
      </p:graphicFrame>
      <p:pic>
        <p:nvPicPr>
          <p:cNvPr id="5" name="Picture 4" descr="innomatics_logo_clean.png"/>
          <p:cNvPicPr>
            <a:picLocks noChangeAspect="1"/>
          </p:cNvPicPr>
          <p:nvPr/>
        </p:nvPicPr>
        <p:blipFill>
          <a:blip r:embed="rId2"/>
          <a:stretch>
            <a:fillRect/>
          </a:stretch>
        </p:blipFill>
        <p:spPr>
          <a:xfrm>
            <a:off x="9555480" y="6007608"/>
            <a:ext cx="1965960" cy="414639"/>
          </a:xfrm>
          <a:prstGeom prst="rect">
            <a:avLst/>
          </a:prstGeom>
        </p:spPr>
      </p:pic>
      <p:sp>
        <p:nvSpPr>
          <p:cNvPr id="6" name="TextBox 5"/>
          <p:cNvSpPr txBox="1"/>
          <p:nvPr/>
        </p:nvSpPr>
        <p:spPr>
          <a:xfrm>
            <a:off x="11109960" y="6321960"/>
            <a:ext cx="347472" cy="230832"/>
          </a:xfrm>
          <a:prstGeom prst="rect">
            <a:avLst/>
          </a:prstGeom>
          <a:noFill/>
        </p:spPr>
        <p:txBody>
          <a:bodyPr wrap="square" anchor="ctr">
            <a:spAutoFit/>
          </a:bodyPr>
          <a:lstStyle/>
          <a:p>
            <a:pPr algn="r"/>
            <a:r>
              <a:rPr sz="900" b="1" dirty="0">
                <a:solidFill>
                  <a:srgbClr val="525254"/>
                </a:solidFill>
                <a:latin typeface="Roboto Condensed"/>
              </a:rPr>
              <a:t>0</a:t>
            </a:r>
            <a:r>
              <a:rPr lang="en-IN" sz="900" b="1" dirty="0">
                <a:solidFill>
                  <a:srgbClr val="525254"/>
                </a:solidFill>
                <a:latin typeface="Roboto Condensed"/>
              </a:rPr>
              <a:t>7</a:t>
            </a:r>
            <a:endParaRPr sz="900" b="1" dirty="0">
              <a:solidFill>
                <a:srgbClr val="525254"/>
              </a:solidFill>
              <a:latin typeface="Roboto Condense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many customers are there in the database?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4220.png"/>
          <p:cNvPicPr>
            <a:picLocks noChangeAspect="1"/>
          </p:cNvPicPr>
          <p:nvPr/>
        </p:nvPicPr>
        <p:blipFill>
          <a:blip r:embed="rId2"/>
          <a:stretch>
            <a:fillRect/>
          </a:stretch>
        </p:blipFill>
        <p:spPr>
          <a:xfrm>
            <a:off x="2101395" y="1499616"/>
            <a:ext cx="6172200" cy="457200"/>
          </a:xfrm>
          <a:prstGeom prst="rect">
            <a:avLst/>
          </a:prstGeom>
        </p:spPr>
      </p:pic>
      <p:sp>
        <p:nvSpPr>
          <p:cNvPr id="6" name="TextBox 5"/>
          <p:cNvSpPr txBox="1"/>
          <p:nvPr/>
        </p:nvSpPr>
        <p:spPr>
          <a:xfrm>
            <a:off x="868680" y="2176272"/>
            <a:ext cx="960120" cy="310896"/>
          </a:xfrm>
          <a:prstGeom prst="rect">
            <a:avLst/>
          </a:prstGeom>
          <a:noFill/>
        </p:spPr>
        <p:txBody>
          <a:bodyPr wrap="square" anchor="ctr">
            <a:spAutoFit/>
          </a:bodyPr>
          <a:lstStyle/>
          <a:p>
            <a:pPr algn="l"/>
            <a:r>
              <a:rPr sz="1650" b="1">
                <a:solidFill>
                  <a:srgbClr val="1E1E20"/>
                </a:solidFill>
                <a:latin typeface="Roboto Condensed"/>
              </a:rPr>
              <a:t>Output :</a:t>
            </a:r>
          </a:p>
        </p:txBody>
      </p:sp>
      <p:pic>
        <p:nvPicPr>
          <p:cNvPr id="7" name="Picture 6" descr="Screenshot 2026-08-31 154230.png"/>
          <p:cNvPicPr>
            <a:picLocks noChangeAspect="1"/>
          </p:cNvPicPr>
          <p:nvPr/>
        </p:nvPicPr>
        <p:blipFill>
          <a:blip r:embed="rId3"/>
          <a:stretch>
            <a:fillRect/>
          </a:stretch>
        </p:blipFill>
        <p:spPr>
          <a:xfrm>
            <a:off x="2240280" y="2203578"/>
            <a:ext cx="6373907" cy="1734396"/>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counts every record in the customers table. The output shows 500 customers, giving the bank a clear view of the size of its customer base.</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08</a:t>
            </a:r>
            <a:endParaRPr sz="900" b="1" dirty="0">
              <a:solidFill>
                <a:srgbClr val="525254"/>
              </a:solidFill>
              <a:latin typeface="Roboto Condense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many accounts are there in the database?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4303.png"/>
          <p:cNvPicPr>
            <a:picLocks noChangeAspect="1"/>
          </p:cNvPicPr>
          <p:nvPr/>
        </p:nvPicPr>
        <p:blipFill>
          <a:blip r:embed="rId2"/>
          <a:stretch>
            <a:fillRect/>
          </a:stretch>
        </p:blipFill>
        <p:spPr>
          <a:xfrm>
            <a:off x="1943496" y="1540764"/>
            <a:ext cx="5832389" cy="457200"/>
          </a:xfrm>
          <a:prstGeom prst="rect">
            <a:avLst/>
          </a:prstGeom>
        </p:spPr>
      </p:pic>
      <p:sp>
        <p:nvSpPr>
          <p:cNvPr id="6" name="TextBox 5"/>
          <p:cNvSpPr txBox="1"/>
          <p:nvPr/>
        </p:nvSpPr>
        <p:spPr>
          <a:xfrm>
            <a:off x="868680" y="2176272"/>
            <a:ext cx="960120" cy="310896"/>
          </a:xfrm>
          <a:prstGeom prst="rect">
            <a:avLst/>
          </a:prstGeom>
          <a:noFill/>
        </p:spPr>
        <p:txBody>
          <a:bodyPr wrap="square" anchor="ctr">
            <a:spAutoFit/>
          </a:bodyPr>
          <a:lstStyle/>
          <a:p>
            <a:pPr algn="l"/>
            <a:r>
              <a:rPr sz="1650" b="1">
                <a:solidFill>
                  <a:srgbClr val="1E1E20"/>
                </a:solidFill>
                <a:latin typeface="Roboto Condensed"/>
              </a:rPr>
              <a:t>Output :</a:t>
            </a:r>
          </a:p>
        </p:txBody>
      </p:sp>
      <p:pic>
        <p:nvPicPr>
          <p:cNvPr id="7" name="Picture 6" descr="Screenshot 2026-08-31 154309.png"/>
          <p:cNvPicPr>
            <a:picLocks noChangeAspect="1"/>
          </p:cNvPicPr>
          <p:nvPr/>
        </p:nvPicPr>
        <p:blipFill>
          <a:blip r:embed="rId3"/>
          <a:stretch>
            <a:fillRect/>
          </a:stretch>
        </p:blipFill>
        <p:spPr>
          <a:xfrm>
            <a:off x="2037128" y="2257815"/>
            <a:ext cx="7904384" cy="1545838"/>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counts every record in the accounts table. The output shows 700 accounts, indicating the overall number of accounts maintained in the database.</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09</a:t>
            </a:r>
            <a:endParaRPr sz="900" b="1" dirty="0">
              <a:solidFill>
                <a:srgbClr val="525254"/>
              </a:solidFill>
              <a:latin typeface="Roboto Condense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What are the different account types and how many accounts does each type have?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4354.png"/>
          <p:cNvPicPr>
            <a:picLocks noChangeAspect="1"/>
          </p:cNvPicPr>
          <p:nvPr/>
        </p:nvPicPr>
        <p:blipFill>
          <a:blip r:embed="rId2"/>
          <a:stretch>
            <a:fillRect/>
          </a:stretch>
        </p:blipFill>
        <p:spPr>
          <a:xfrm>
            <a:off x="1984075" y="1380912"/>
            <a:ext cx="6918385" cy="925625"/>
          </a:xfrm>
          <a:prstGeom prst="rect">
            <a:avLst/>
          </a:prstGeom>
        </p:spPr>
      </p:pic>
      <p:sp>
        <p:nvSpPr>
          <p:cNvPr id="6" name="TextBox 5"/>
          <p:cNvSpPr txBox="1"/>
          <p:nvPr/>
        </p:nvSpPr>
        <p:spPr>
          <a:xfrm>
            <a:off x="845820" y="2363724"/>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8-31 154405.png"/>
          <p:cNvPicPr>
            <a:picLocks noChangeAspect="1"/>
          </p:cNvPicPr>
          <p:nvPr/>
        </p:nvPicPr>
        <p:blipFill>
          <a:blip r:embed="rId3"/>
          <a:stretch>
            <a:fillRect/>
          </a:stretch>
        </p:blipFill>
        <p:spPr>
          <a:xfrm>
            <a:off x="2240280" y="2451109"/>
            <a:ext cx="6146740" cy="1955781"/>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groups accounts by account_type and sorts the categories by account count. IRA is the most common type with 136 accounts, followed by Certificate of Deposit and Savings.</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10</a:t>
            </a:r>
            <a:endParaRPr sz="900" b="1" dirty="0">
              <a:solidFill>
                <a:srgbClr val="525254"/>
              </a:solidFill>
              <a:latin typeface="Roboto Condense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many customers are currently active?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4500.png"/>
          <p:cNvPicPr>
            <a:picLocks noChangeAspect="1"/>
          </p:cNvPicPr>
          <p:nvPr/>
        </p:nvPicPr>
        <p:blipFill>
          <a:blip r:embed="rId2"/>
          <a:stretch>
            <a:fillRect/>
          </a:stretch>
        </p:blipFill>
        <p:spPr>
          <a:xfrm>
            <a:off x="1783080" y="1499616"/>
            <a:ext cx="9189720" cy="382905"/>
          </a:xfrm>
          <a:prstGeom prst="rect">
            <a:avLst/>
          </a:prstGeom>
        </p:spPr>
      </p:pic>
      <p:sp>
        <p:nvSpPr>
          <p:cNvPr id="6" name="TextBox 5"/>
          <p:cNvSpPr txBox="1"/>
          <p:nvPr/>
        </p:nvSpPr>
        <p:spPr>
          <a:xfrm>
            <a:off x="868680" y="2333618"/>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8-31 154511.png"/>
          <p:cNvPicPr>
            <a:picLocks noChangeAspect="1"/>
          </p:cNvPicPr>
          <p:nvPr/>
        </p:nvPicPr>
        <p:blipFill>
          <a:blip r:embed="rId3"/>
          <a:stretch>
            <a:fillRect/>
          </a:stretch>
        </p:blipFill>
        <p:spPr>
          <a:xfrm>
            <a:off x="2093631" y="2308721"/>
            <a:ext cx="8879169" cy="1547512"/>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filters customers where is_active is 'Yes' and counts them. The output shows 375 active customers, which helps measure the currently engaged customer base.</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11</a:t>
            </a:r>
            <a:endParaRPr sz="900" b="1" dirty="0">
              <a:solidFill>
                <a:srgbClr val="525254"/>
              </a:solidFill>
              <a:latin typeface="Roboto Condense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do customer segments differ by customer count, average income and credit score?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4622.png"/>
          <p:cNvPicPr>
            <a:picLocks noChangeAspect="1"/>
          </p:cNvPicPr>
          <p:nvPr/>
        </p:nvPicPr>
        <p:blipFill>
          <a:blip r:embed="rId2"/>
          <a:stretch>
            <a:fillRect/>
          </a:stretch>
        </p:blipFill>
        <p:spPr>
          <a:xfrm>
            <a:off x="2346385" y="1389888"/>
            <a:ext cx="4908430" cy="987552"/>
          </a:xfrm>
          <a:prstGeom prst="rect">
            <a:avLst/>
          </a:prstGeom>
        </p:spPr>
      </p:pic>
      <p:sp>
        <p:nvSpPr>
          <p:cNvPr id="6" name="TextBox 5"/>
          <p:cNvSpPr txBox="1"/>
          <p:nvPr/>
        </p:nvSpPr>
        <p:spPr>
          <a:xfrm>
            <a:off x="861779" y="2533751"/>
            <a:ext cx="960120" cy="310896"/>
          </a:xfrm>
          <a:prstGeom prst="rect">
            <a:avLst/>
          </a:prstGeom>
          <a:noFill/>
        </p:spPr>
        <p:txBody>
          <a:bodyPr wrap="square" anchor="ctr">
            <a:spAutoFit/>
          </a:bodyPr>
          <a:lstStyle/>
          <a:p>
            <a:pPr algn="l"/>
            <a:r>
              <a:rPr sz="1650" b="1">
                <a:solidFill>
                  <a:srgbClr val="1E1E20"/>
                </a:solidFill>
                <a:latin typeface="Roboto Condensed"/>
              </a:rPr>
              <a:t>Output :</a:t>
            </a:r>
          </a:p>
        </p:txBody>
      </p:sp>
      <p:pic>
        <p:nvPicPr>
          <p:cNvPr id="7" name="Picture 6" descr="Screenshot 2026-08-31 154629.png"/>
          <p:cNvPicPr>
            <a:picLocks noChangeAspect="1"/>
          </p:cNvPicPr>
          <p:nvPr/>
        </p:nvPicPr>
        <p:blipFill>
          <a:blip r:embed="rId3"/>
          <a:stretch>
            <a:fillRect/>
          </a:stretch>
        </p:blipFill>
        <p:spPr>
          <a:xfrm>
            <a:off x="2553419" y="2675808"/>
            <a:ext cx="5378381" cy="1704789"/>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groups customers by segment and calculates customer count, average income and average credit score. Student is the largest segment with 100 customers, while Premium has the highest average income.</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a:t>
            </a:r>
            <a:r>
              <a:rPr sz="900" b="1" dirty="0">
                <a:solidFill>
                  <a:srgbClr val="525254"/>
                </a:solidFill>
                <a:latin typeface="Roboto Condensed"/>
              </a:rPr>
              <a:t>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700" b="1" i="0" u="none" strike="noStrike" kern="1200" cap="none" spc="0" normalizeH="0" baseline="0" noProof="0">
                <a:ln>
                  <a:noFill/>
                </a:ln>
                <a:solidFill>
                  <a:srgbClr val="DD242C"/>
                </a:solidFill>
                <a:effectLst/>
                <a:uLnTx/>
                <a:uFillTx/>
                <a:latin typeface="Roboto Condensed"/>
                <a:ea typeface="+mn-ea"/>
                <a:cs typeface="+mn-cs"/>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2100" b="1" i="0" u="none" strike="noStrike" kern="1200" cap="none" spc="0" normalizeH="0" baseline="0" noProof="0">
                <a:ln>
                  <a:noFill/>
                </a:ln>
                <a:solidFill>
                  <a:srgbClr val="1E1E20"/>
                </a:solidFill>
                <a:effectLst/>
                <a:uLnTx/>
                <a:uFillTx/>
                <a:latin typeface="Roboto Condensed"/>
                <a:ea typeface="+mn-ea"/>
                <a:cs typeface="+mn-cs"/>
              </a:rPr>
              <a:t>How many years, on average, have customers been with the bank?</a:t>
            </a:r>
          </a:p>
        </p:txBody>
      </p:sp>
      <p:sp>
        <p:nvSpPr>
          <p:cNvPr id="4" name="TextBox 3"/>
          <p:cNvSpPr txBox="1"/>
          <p:nvPr/>
        </p:nvSpPr>
        <p:spPr>
          <a:xfrm>
            <a:off x="868680" y="1572768"/>
            <a:ext cx="914400" cy="310896"/>
          </a:xfrm>
          <a:prstGeom prst="rect">
            <a:avLst/>
          </a:prstGeom>
          <a:noFill/>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a:ln>
                  <a:noFill/>
                </a:ln>
                <a:solidFill>
                  <a:srgbClr val="1E1E20"/>
                </a:solidFill>
                <a:effectLst/>
                <a:uLnTx/>
                <a:uFillTx/>
                <a:latin typeface="Roboto Condensed"/>
                <a:ea typeface="+mn-ea"/>
                <a:cs typeface="+mn-cs"/>
              </a:rPr>
              <a:t>Query :</a:t>
            </a:r>
          </a:p>
        </p:txBody>
      </p:sp>
      <p:pic>
        <p:nvPicPr>
          <p:cNvPr id="5" name="Picture 4" descr="Screenshot 2026-09-03 152100.png"/>
          <p:cNvPicPr>
            <a:picLocks noChangeAspect="1"/>
          </p:cNvPicPr>
          <p:nvPr/>
        </p:nvPicPr>
        <p:blipFill>
          <a:blip r:embed="rId2"/>
          <a:stretch>
            <a:fillRect/>
          </a:stretch>
        </p:blipFill>
        <p:spPr>
          <a:xfrm>
            <a:off x="2324911" y="1473824"/>
            <a:ext cx="7751681" cy="859535"/>
          </a:xfrm>
          <a:prstGeom prst="rect">
            <a:avLst/>
          </a:prstGeom>
        </p:spPr>
      </p:pic>
      <p:sp>
        <p:nvSpPr>
          <p:cNvPr id="6" name="TextBox 5"/>
          <p:cNvSpPr txBox="1"/>
          <p:nvPr/>
        </p:nvSpPr>
        <p:spPr>
          <a:xfrm>
            <a:off x="822960" y="2483007"/>
            <a:ext cx="960120" cy="310896"/>
          </a:xfrm>
          <a:prstGeom prst="rect">
            <a:avLst/>
          </a:prstGeom>
          <a:noFill/>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50" b="1" i="0" u="none" strike="noStrike" kern="1200" cap="none" spc="0" normalizeH="0" baseline="0" noProof="0" dirty="0">
                <a:ln>
                  <a:noFill/>
                </a:ln>
                <a:solidFill>
                  <a:srgbClr val="1E1E20"/>
                </a:solidFill>
                <a:effectLst/>
                <a:uLnTx/>
                <a:uFillTx/>
                <a:latin typeface="Roboto Condensed"/>
                <a:ea typeface="+mn-ea"/>
                <a:cs typeface="+mn-cs"/>
              </a:rPr>
              <a:t>Output :</a:t>
            </a:r>
          </a:p>
        </p:txBody>
      </p:sp>
      <p:pic>
        <p:nvPicPr>
          <p:cNvPr id="7" name="Picture 6" descr="Screenshot 2026-09-03 152108.png"/>
          <p:cNvPicPr>
            <a:picLocks noChangeAspect="1"/>
          </p:cNvPicPr>
          <p:nvPr/>
        </p:nvPicPr>
        <p:blipFill>
          <a:blip r:embed="rId3"/>
          <a:stretch>
            <a:fillRect/>
          </a:stretch>
        </p:blipFill>
        <p:spPr>
          <a:xfrm>
            <a:off x="2324911" y="2522784"/>
            <a:ext cx="8732521" cy="1351954"/>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550" b="1" i="0" u="none" strike="noStrike" kern="1200" cap="none" spc="0" normalizeH="0" baseline="0" noProof="0">
                <a:ln>
                  <a:noFill/>
                </a:ln>
                <a:solidFill>
                  <a:srgbClr val="1E1E20"/>
                </a:solidFill>
                <a:effectLst/>
                <a:uLnTx/>
                <a:uFillTx/>
                <a:latin typeface="Roboto Condensed"/>
                <a:ea typeface="+mn-ea"/>
                <a:cs typeface="+mn-cs"/>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160" b="0" i="0" u="none" strike="noStrike" kern="1200" cap="none" spc="0" normalizeH="0" baseline="0" noProof="0">
                <a:ln>
                  <a:noFill/>
                </a:ln>
                <a:solidFill>
                  <a:srgbClr val="1E1E20"/>
                </a:solidFill>
                <a:effectLst/>
                <a:uLnTx/>
                <a:uFillTx/>
                <a:latin typeface="Roboto Condensed"/>
                <a:ea typeface="+mn-ea"/>
                <a:cs typeface="+mn-cs"/>
              </a:rPr>
              <a:t>The query calculates customer tenure from customer_since to the latest transaction date. The result is 7.38 years on average, showing that customers have a long-term relationship with the bank.</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25254"/>
                </a:solidFill>
                <a:effectLst/>
                <a:uLnTx/>
                <a:uFillTx/>
                <a:latin typeface="Roboto Condensed"/>
                <a:ea typeface="+mn-ea"/>
                <a:cs typeface="+mn-cs"/>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dirty="0">
                <a:ln>
                  <a:noFill/>
                </a:ln>
                <a:solidFill>
                  <a:srgbClr val="525254"/>
                </a:solidFill>
                <a:effectLst/>
                <a:uLnTx/>
                <a:uFillTx/>
                <a:latin typeface="Roboto Condensed"/>
                <a:ea typeface="+mn-ea"/>
                <a:cs typeface="+mn-cs"/>
              </a:rPr>
              <a:t>1</a:t>
            </a:r>
            <a:r>
              <a:rPr kumimoji="0" lang="en-IN" sz="900" b="1" i="0" u="none" strike="noStrike" kern="1200" cap="none" spc="0" normalizeH="0" baseline="0" noProof="0" dirty="0">
                <a:ln>
                  <a:noFill/>
                </a:ln>
                <a:solidFill>
                  <a:srgbClr val="525254"/>
                </a:solidFill>
                <a:effectLst/>
                <a:uLnTx/>
                <a:uFillTx/>
                <a:latin typeface="Roboto Condensed"/>
                <a:ea typeface="+mn-ea"/>
                <a:cs typeface="+mn-cs"/>
              </a:rPr>
              <a:t>3</a:t>
            </a:r>
            <a:endParaRPr kumimoji="0" sz="900" b="1" i="0" u="none" strike="noStrike" kern="1200" cap="none" spc="0" normalizeH="0" baseline="0" noProof="0" dirty="0">
              <a:ln>
                <a:noFill/>
              </a:ln>
              <a:solidFill>
                <a:srgbClr val="525254"/>
              </a:solidFill>
              <a:effectLst/>
              <a:uLnTx/>
              <a:uFillTx/>
              <a:latin typeface="Roboto Condensed"/>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account types have the highest total and average balances?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2444.png"/>
          <p:cNvPicPr>
            <a:picLocks noChangeAspect="1"/>
          </p:cNvPicPr>
          <p:nvPr/>
        </p:nvPicPr>
        <p:blipFill>
          <a:blip r:embed="rId2"/>
          <a:stretch>
            <a:fillRect/>
          </a:stretch>
        </p:blipFill>
        <p:spPr>
          <a:xfrm>
            <a:off x="2404681" y="1500297"/>
            <a:ext cx="6051111" cy="1097280"/>
          </a:xfrm>
          <a:prstGeom prst="rect">
            <a:avLst/>
          </a:prstGeom>
        </p:spPr>
      </p:pic>
      <p:sp>
        <p:nvSpPr>
          <p:cNvPr id="6" name="TextBox 5"/>
          <p:cNvSpPr txBox="1"/>
          <p:nvPr/>
        </p:nvSpPr>
        <p:spPr>
          <a:xfrm>
            <a:off x="886190" y="2660904"/>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2458.png"/>
          <p:cNvPicPr>
            <a:picLocks noChangeAspect="1"/>
          </p:cNvPicPr>
          <p:nvPr/>
        </p:nvPicPr>
        <p:blipFill>
          <a:blip r:embed="rId3"/>
          <a:stretch>
            <a:fillRect/>
          </a:stretch>
        </p:blipFill>
        <p:spPr>
          <a:xfrm>
            <a:off x="2404681" y="2731788"/>
            <a:ext cx="5502462" cy="1716768"/>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groups accounts by account type and compares total, average and maximum balances. IRA has the highest total balance, while Certificate of Deposit has the highest average balance.</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14</a:t>
            </a:r>
            <a:endParaRPr sz="900" b="1" dirty="0">
              <a:solidFill>
                <a:srgbClr val="525254"/>
              </a:solidFill>
              <a:latin typeface="Roboto Condense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branches have the highest number of accounts?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2534.png"/>
          <p:cNvPicPr>
            <a:picLocks noChangeAspect="1"/>
          </p:cNvPicPr>
          <p:nvPr/>
        </p:nvPicPr>
        <p:blipFill>
          <a:blip r:embed="rId2"/>
          <a:stretch>
            <a:fillRect/>
          </a:stretch>
        </p:blipFill>
        <p:spPr>
          <a:xfrm>
            <a:off x="2587556" y="1463040"/>
            <a:ext cx="5058383" cy="1390376"/>
          </a:xfrm>
          <a:prstGeom prst="rect">
            <a:avLst/>
          </a:prstGeom>
        </p:spPr>
      </p:pic>
      <p:sp>
        <p:nvSpPr>
          <p:cNvPr id="6" name="TextBox 5"/>
          <p:cNvSpPr txBox="1"/>
          <p:nvPr/>
        </p:nvSpPr>
        <p:spPr>
          <a:xfrm>
            <a:off x="868680" y="290779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2548.png"/>
          <p:cNvPicPr>
            <a:picLocks noChangeAspect="1"/>
          </p:cNvPicPr>
          <p:nvPr/>
        </p:nvPicPr>
        <p:blipFill>
          <a:blip r:embed="rId3"/>
          <a:stretch>
            <a:fillRect/>
          </a:stretch>
        </p:blipFill>
        <p:spPr>
          <a:xfrm>
            <a:off x="2450592" y="2981432"/>
            <a:ext cx="5593404" cy="1822865"/>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joins branches with accounts, counts accounts for each branch and ranks them in descending order. Pittsburgh Branch has the highest account count in the displayed result.</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15</a:t>
            </a:r>
            <a:endParaRPr sz="900" b="1" dirty="0">
              <a:solidFill>
                <a:srgbClr val="525254"/>
              </a:solidFill>
              <a:latin typeface="Roboto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account types have the highest average interest rates?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2615.png"/>
          <p:cNvPicPr>
            <a:picLocks noChangeAspect="1"/>
          </p:cNvPicPr>
          <p:nvPr/>
        </p:nvPicPr>
        <p:blipFill>
          <a:blip r:embed="rId2"/>
          <a:stretch>
            <a:fillRect/>
          </a:stretch>
        </p:blipFill>
        <p:spPr>
          <a:xfrm>
            <a:off x="2373548" y="1463040"/>
            <a:ext cx="5671225" cy="1304270"/>
          </a:xfrm>
          <a:prstGeom prst="rect">
            <a:avLst/>
          </a:prstGeom>
        </p:spPr>
      </p:pic>
      <p:sp>
        <p:nvSpPr>
          <p:cNvPr id="6" name="TextBox 5"/>
          <p:cNvSpPr txBox="1"/>
          <p:nvPr/>
        </p:nvSpPr>
        <p:spPr>
          <a:xfrm>
            <a:off x="914400" y="281635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2632.png"/>
          <p:cNvPicPr>
            <a:picLocks noChangeAspect="1"/>
          </p:cNvPicPr>
          <p:nvPr/>
        </p:nvPicPr>
        <p:blipFill>
          <a:blip r:embed="rId3"/>
          <a:stretch>
            <a:fillRect/>
          </a:stretch>
        </p:blipFill>
        <p:spPr>
          <a:xfrm>
            <a:off x="2373548" y="2899481"/>
            <a:ext cx="6373997" cy="1937695"/>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groups accounts by account type and compares average, minimum and maximum interest rates. Certificate of Deposit has the highest average interest rate at 4.62%.</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16</a:t>
            </a:r>
            <a:endParaRPr sz="900" b="1" dirty="0">
              <a:solidFill>
                <a:srgbClr val="525254"/>
              </a:solidFill>
              <a:latin typeface="Roboto Condense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What are the minimum, average, maximum and total completed transaction amounts?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2704.png"/>
          <p:cNvPicPr>
            <a:picLocks noChangeAspect="1"/>
          </p:cNvPicPr>
          <p:nvPr/>
        </p:nvPicPr>
        <p:blipFill>
          <a:blip r:embed="rId2"/>
          <a:stretch>
            <a:fillRect/>
          </a:stretch>
        </p:blipFill>
        <p:spPr>
          <a:xfrm>
            <a:off x="2377246" y="1513332"/>
            <a:ext cx="5972782" cy="1179576"/>
          </a:xfrm>
          <a:prstGeom prst="rect">
            <a:avLst/>
          </a:prstGeom>
        </p:spPr>
      </p:pic>
      <p:sp>
        <p:nvSpPr>
          <p:cNvPr id="6" name="TextBox 5"/>
          <p:cNvSpPr txBox="1"/>
          <p:nvPr/>
        </p:nvSpPr>
        <p:spPr>
          <a:xfrm>
            <a:off x="895917" y="290779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2711.png"/>
          <p:cNvPicPr>
            <a:picLocks noChangeAspect="1"/>
          </p:cNvPicPr>
          <p:nvPr/>
        </p:nvPicPr>
        <p:blipFill>
          <a:blip r:embed="rId3"/>
          <a:stretch>
            <a:fillRect/>
          </a:stretch>
        </p:blipFill>
        <p:spPr>
          <a:xfrm>
            <a:off x="2377246" y="2949074"/>
            <a:ext cx="7397884" cy="959852"/>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calculates the minimum, average, maximum and total value of completed transactions. The average completed transaction amount is 6,502.70 and the total is 10,976,552.36.</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17</a:t>
            </a:r>
            <a:endParaRPr sz="900" b="1" dirty="0">
              <a:solidFill>
                <a:srgbClr val="525254"/>
              </a:solidFill>
              <a:latin typeface="Roboto Condense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accounts have the highest number of completed transactions?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2743.png"/>
          <p:cNvPicPr>
            <a:picLocks noChangeAspect="1"/>
          </p:cNvPicPr>
          <p:nvPr/>
        </p:nvPicPr>
        <p:blipFill>
          <a:blip r:embed="rId2"/>
          <a:stretch>
            <a:fillRect/>
          </a:stretch>
        </p:blipFill>
        <p:spPr>
          <a:xfrm>
            <a:off x="2450592" y="1463039"/>
            <a:ext cx="5116204" cy="1309343"/>
          </a:xfrm>
          <a:prstGeom prst="rect">
            <a:avLst/>
          </a:prstGeom>
        </p:spPr>
      </p:pic>
      <p:sp>
        <p:nvSpPr>
          <p:cNvPr id="6" name="TextBox 5"/>
          <p:cNvSpPr txBox="1"/>
          <p:nvPr/>
        </p:nvSpPr>
        <p:spPr>
          <a:xfrm>
            <a:off x="845820" y="290779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2801.png"/>
          <p:cNvPicPr>
            <a:picLocks noChangeAspect="1"/>
          </p:cNvPicPr>
          <p:nvPr/>
        </p:nvPicPr>
        <p:blipFill>
          <a:blip r:embed="rId3"/>
          <a:stretch>
            <a:fillRect/>
          </a:stretch>
        </p:blipFill>
        <p:spPr>
          <a:xfrm>
            <a:off x="2744836" y="3009932"/>
            <a:ext cx="4821960" cy="1699228"/>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joins accounts with transactions, keeps completed transactions and ranks accounts by transaction count. The displayed result shows several accounts with the highest frequency of 7 completed transactions.</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18</a:t>
            </a:r>
            <a:endParaRPr sz="900" b="1" dirty="0">
              <a:solidFill>
                <a:srgbClr val="525254"/>
              </a:solidFill>
              <a:latin typeface="Roboto Condense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do transaction types affect the average account balance after a transaction?</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2820.png"/>
          <p:cNvPicPr>
            <a:picLocks noChangeAspect="1"/>
          </p:cNvPicPr>
          <p:nvPr/>
        </p:nvPicPr>
        <p:blipFill>
          <a:blip r:embed="rId2"/>
          <a:stretch>
            <a:fillRect/>
          </a:stretch>
        </p:blipFill>
        <p:spPr>
          <a:xfrm>
            <a:off x="2324911" y="1463040"/>
            <a:ext cx="5817140" cy="1401554"/>
          </a:xfrm>
          <a:prstGeom prst="rect">
            <a:avLst/>
          </a:prstGeom>
        </p:spPr>
      </p:pic>
      <p:sp>
        <p:nvSpPr>
          <p:cNvPr id="6" name="TextBox 5"/>
          <p:cNvSpPr txBox="1"/>
          <p:nvPr/>
        </p:nvSpPr>
        <p:spPr>
          <a:xfrm>
            <a:off x="845820" y="290779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2831.png"/>
          <p:cNvPicPr>
            <a:picLocks noChangeAspect="1"/>
          </p:cNvPicPr>
          <p:nvPr/>
        </p:nvPicPr>
        <p:blipFill>
          <a:blip r:embed="rId3"/>
          <a:stretch>
            <a:fillRect/>
          </a:stretch>
        </p:blipFill>
        <p:spPr>
          <a:xfrm>
            <a:off x="2450592" y="2992610"/>
            <a:ext cx="5594432" cy="1606822"/>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groups completed transactions by transaction type and compares the average balance after the transaction. Interest transactions have the highest average balance after completion.</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19</a:t>
            </a:r>
            <a:endParaRPr sz="900" b="1" dirty="0">
              <a:solidFill>
                <a:srgbClr val="525254"/>
              </a:solidFill>
              <a:latin typeface="Roboto Condense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loan types have the highest loan counts and outstanding balances?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2935.png"/>
          <p:cNvPicPr>
            <a:picLocks noChangeAspect="1"/>
          </p:cNvPicPr>
          <p:nvPr/>
        </p:nvPicPr>
        <p:blipFill>
          <a:blip r:embed="rId2"/>
          <a:stretch>
            <a:fillRect/>
          </a:stretch>
        </p:blipFill>
        <p:spPr>
          <a:xfrm>
            <a:off x="2110902" y="1463040"/>
            <a:ext cx="5576148" cy="1300896"/>
          </a:xfrm>
          <a:prstGeom prst="rect">
            <a:avLst/>
          </a:prstGeom>
        </p:spPr>
      </p:pic>
      <p:sp>
        <p:nvSpPr>
          <p:cNvPr id="6" name="TextBox 5"/>
          <p:cNvSpPr txBox="1"/>
          <p:nvPr/>
        </p:nvSpPr>
        <p:spPr>
          <a:xfrm>
            <a:off x="914400" y="2994660"/>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2945.png"/>
          <p:cNvPicPr>
            <a:picLocks noChangeAspect="1"/>
          </p:cNvPicPr>
          <p:nvPr/>
        </p:nvPicPr>
        <p:blipFill>
          <a:blip r:embed="rId3"/>
          <a:stretch>
            <a:fillRect/>
          </a:stretch>
        </p:blipFill>
        <p:spPr>
          <a:xfrm>
            <a:off x="2240280" y="3019968"/>
            <a:ext cx="5446770" cy="1561176"/>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groups loans by loan type and compares the loan count, total principal and outstanding balance. Education is the largest loan category in the displayed output.</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20</a:t>
            </a:r>
            <a:endParaRPr sz="900" b="1" dirty="0">
              <a:solidFill>
                <a:srgbClr val="525254"/>
              </a:solidFill>
              <a:latin typeface="Roboto Condense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loan purposes are most common and what are their average principal amounts?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3039.png"/>
          <p:cNvPicPr>
            <a:picLocks noChangeAspect="1"/>
          </p:cNvPicPr>
          <p:nvPr/>
        </p:nvPicPr>
        <p:blipFill>
          <a:blip r:embed="rId2"/>
          <a:stretch>
            <a:fillRect/>
          </a:stretch>
        </p:blipFill>
        <p:spPr>
          <a:xfrm>
            <a:off x="2373549" y="1502339"/>
            <a:ext cx="5298697" cy="1311290"/>
          </a:xfrm>
          <a:prstGeom prst="rect">
            <a:avLst/>
          </a:prstGeom>
        </p:spPr>
      </p:pic>
      <p:sp>
        <p:nvSpPr>
          <p:cNvPr id="6" name="TextBox 5"/>
          <p:cNvSpPr txBox="1"/>
          <p:nvPr/>
        </p:nvSpPr>
        <p:spPr>
          <a:xfrm>
            <a:off x="914400" y="2813629"/>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3049.png"/>
          <p:cNvPicPr>
            <a:picLocks noChangeAspect="1"/>
          </p:cNvPicPr>
          <p:nvPr/>
        </p:nvPicPr>
        <p:blipFill>
          <a:blip r:embed="rId3"/>
          <a:stretch>
            <a:fillRect/>
          </a:stretch>
        </p:blipFill>
        <p:spPr>
          <a:xfrm>
            <a:off x="2450592" y="2902346"/>
            <a:ext cx="5797827" cy="1815959"/>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groups loans by purpose and compares the loan count, average principal and outstanding balance. Education is the most common purpose with 64 loans.</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21</a:t>
            </a:r>
            <a:endParaRPr sz="900" b="1" dirty="0">
              <a:solidFill>
                <a:srgbClr val="525254"/>
              </a:solidFill>
              <a:latin typeface="Roboto Condense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do reward points differ between credit and debit cards?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53206.png"/>
          <p:cNvPicPr>
            <a:picLocks noChangeAspect="1"/>
          </p:cNvPicPr>
          <p:nvPr/>
        </p:nvPicPr>
        <p:blipFill>
          <a:blip r:embed="rId2"/>
          <a:stretch>
            <a:fillRect/>
          </a:stretch>
        </p:blipFill>
        <p:spPr>
          <a:xfrm>
            <a:off x="2324912" y="1463040"/>
            <a:ext cx="5313426" cy="1645920"/>
          </a:xfrm>
          <a:prstGeom prst="rect">
            <a:avLst/>
          </a:prstGeom>
        </p:spPr>
      </p:pic>
      <p:sp>
        <p:nvSpPr>
          <p:cNvPr id="6" name="TextBox 5"/>
          <p:cNvSpPr txBox="1"/>
          <p:nvPr/>
        </p:nvSpPr>
        <p:spPr>
          <a:xfrm>
            <a:off x="914400" y="327355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53214.png"/>
          <p:cNvPicPr>
            <a:picLocks noChangeAspect="1"/>
          </p:cNvPicPr>
          <p:nvPr/>
        </p:nvPicPr>
        <p:blipFill>
          <a:blip r:embed="rId3"/>
          <a:stretch>
            <a:fillRect/>
          </a:stretch>
        </p:blipFill>
        <p:spPr>
          <a:xfrm>
            <a:off x="2324912" y="3295731"/>
            <a:ext cx="6657308" cy="1152825"/>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46904"/>
            <a:ext cx="8302752" cy="621792"/>
          </a:xfrm>
          <a:prstGeom prst="rect">
            <a:avLst/>
          </a:prstGeom>
          <a:noFill/>
        </p:spPr>
        <p:txBody>
          <a:bodyPr wrap="square" anchor="ctr">
            <a:spAutoFit/>
          </a:bodyPr>
          <a:lstStyle/>
          <a:p>
            <a:pPr algn="l"/>
            <a:r>
              <a:rPr sz="1160" b="0">
                <a:solidFill>
                  <a:srgbClr val="1E1E20"/>
                </a:solidFill>
                <a:latin typeface="Roboto Condensed"/>
              </a:rPr>
              <a:t>The query groups cards by card type and compares average, minimum and maximum reward points. Credit cards have a slightly higher average reward-point value than debit cards.</a:t>
            </a:r>
          </a:p>
        </p:txBody>
      </p:sp>
      <p:pic>
        <p:nvPicPr>
          <p:cNvPr id="11" name="Picture 10" descr="innomatics_logo_clean.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22</a:t>
            </a:r>
            <a:endParaRPr sz="900" b="1" dirty="0">
              <a:solidFill>
                <a:srgbClr val="525254"/>
              </a:solidFill>
              <a:latin typeface="Roboto Condense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customers have the highest completed transaction value?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4713.png"/>
          <p:cNvPicPr>
            <a:picLocks noChangeAspect="1"/>
          </p:cNvPicPr>
          <p:nvPr/>
        </p:nvPicPr>
        <p:blipFill>
          <a:blip r:embed="rId2"/>
          <a:stretch>
            <a:fillRect/>
          </a:stretch>
        </p:blipFill>
        <p:spPr>
          <a:xfrm>
            <a:off x="2335170" y="1307592"/>
            <a:ext cx="5730527" cy="1538931"/>
          </a:xfrm>
          <a:prstGeom prst="rect">
            <a:avLst/>
          </a:prstGeom>
        </p:spPr>
      </p:pic>
      <p:sp>
        <p:nvSpPr>
          <p:cNvPr id="6" name="TextBox 5"/>
          <p:cNvSpPr txBox="1"/>
          <p:nvPr/>
        </p:nvSpPr>
        <p:spPr>
          <a:xfrm>
            <a:off x="879032" y="2830068"/>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8-31 154730.png"/>
          <p:cNvPicPr>
            <a:picLocks noChangeAspect="1"/>
          </p:cNvPicPr>
          <p:nvPr/>
        </p:nvPicPr>
        <p:blipFill>
          <a:blip r:embed="rId3"/>
          <a:stretch>
            <a:fillRect/>
          </a:stretch>
        </p:blipFill>
        <p:spPr>
          <a:xfrm>
            <a:off x="2450592" y="2956251"/>
            <a:ext cx="6258773" cy="1656285"/>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joins customers, accounts and transactions, keeps only completed transactions, and ranks customers by total transaction amount. Joseph Li has the highest completed transaction value in the shown result.</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23</a:t>
            </a:r>
            <a:endParaRPr sz="900" b="1" dirty="0">
              <a:solidFill>
                <a:srgbClr val="525254"/>
              </a:solidFill>
              <a:latin typeface="Roboto Condense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What is the distribution of customers by KYC status?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4832.png"/>
          <p:cNvPicPr>
            <a:picLocks noChangeAspect="1"/>
          </p:cNvPicPr>
          <p:nvPr/>
        </p:nvPicPr>
        <p:blipFill>
          <a:blip r:embed="rId2"/>
          <a:stretch>
            <a:fillRect/>
          </a:stretch>
        </p:blipFill>
        <p:spPr>
          <a:xfrm>
            <a:off x="2496053" y="1399032"/>
            <a:ext cx="4151893" cy="1142481"/>
          </a:xfrm>
          <a:prstGeom prst="rect">
            <a:avLst/>
          </a:prstGeom>
        </p:spPr>
      </p:pic>
      <p:sp>
        <p:nvSpPr>
          <p:cNvPr id="6" name="TextBox 5"/>
          <p:cNvSpPr txBox="1"/>
          <p:nvPr/>
        </p:nvSpPr>
        <p:spPr>
          <a:xfrm>
            <a:off x="914400" y="2608973"/>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8-31 154839.png"/>
          <p:cNvPicPr>
            <a:picLocks noChangeAspect="1"/>
          </p:cNvPicPr>
          <p:nvPr/>
        </p:nvPicPr>
        <p:blipFill>
          <a:blip r:embed="rId3"/>
          <a:stretch>
            <a:fillRect/>
          </a:stretch>
        </p:blipFill>
        <p:spPr>
          <a:xfrm>
            <a:off x="2574380" y="2764421"/>
            <a:ext cx="5583302" cy="1674991"/>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groups customers by KYC status and counts each category. Verified has the largest group with 143 customers, followed by Partial, Pending and Failed.</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24</a:t>
            </a:r>
            <a:endParaRPr sz="900" b="1" dirty="0">
              <a:solidFill>
                <a:srgbClr val="525254"/>
              </a:solidFill>
              <a:latin typeface="Roboto Condense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branches have the highest number of accounts?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55254.png"/>
          <p:cNvPicPr>
            <a:picLocks noChangeAspect="1"/>
          </p:cNvPicPr>
          <p:nvPr/>
        </p:nvPicPr>
        <p:blipFill>
          <a:blip r:embed="rId2"/>
          <a:stretch>
            <a:fillRect/>
          </a:stretch>
        </p:blipFill>
        <p:spPr>
          <a:xfrm>
            <a:off x="2380892" y="1509320"/>
            <a:ext cx="4912968" cy="1338475"/>
          </a:xfrm>
          <a:prstGeom prst="rect">
            <a:avLst/>
          </a:prstGeom>
        </p:spPr>
      </p:pic>
      <p:sp>
        <p:nvSpPr>
          <p:cNvPr id="6" name="TextBox 5"/>
          <p:cNvSpPr txBox="1"/>
          <p:nvPr/>
        </p:nvSpPr>
        <p:spPr>
          <a:xfrm>
            <a:off x="914400" y="2894076"/>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8-31 155302.png"/>
          <p:cNvPicPr>
            <a:picLocks noChangeAspect="1"/>
          </p:cNvPicPr>
          <p:nvPr/>
        </p:nvPicPr>
        <p:blipFill>
          <a:blip r:embed="rId3"/>
          <a:stretch>
            <a:fillRect/>
          </a:stretch>
        </p:blipFill>
        <p:spPr>
          <a:xfrm>
            <a:off x="2450592" y="3035970"/>
            <a:ext cx="6321185" cy="1612470"/>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joins branches with accounts and ranks branches by account count. Pittsburgh Branch has the highest count in the shown result with 28 accounts.</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25</a:t>
            </a:r>
            <a:endParaRPr sz="900" b="1" dirty="0">
              <a:solidFill>
                <a:srgbClr val="525254"/>
              </a:solidFill>
              <a:latin typeface="Roboto Condense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many accounts are active versus closed, and what is the average balance?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8-31 160153.png"/>
          <p:cNvPicPr>
            <a:picLocks noChangeAspect="1"/>
          </p:cNvPicPr>
          <p:nvPr/>
        </p:nvPicPr>
        <p:blipFill>
          <a:blip r:embed="rId2"/>
          <a:stretch>
            <a:fillRect/>
          </a:stretch>
        </p:blipFill>
        <p:spPr>
          <a:xfrm>
            <a:off x="2147979" y="1527908"/>
            <a:ext cx="5059638" cy="1217705"/>
          </a:xfrm>
          <a:prstGeom prst="rect">
            <a:avLst/>
          </a:prstGeom>
        </p:spPr>
      </p:pic>
      <p:sp>
        <p:nvSpPr>
          <p:cNvPr id="6" name="TextBox 5"/>
          <p:cNvSpPr txBox="1"/>
          <p:nvPr/>
        </p:nvSpPr>
        <p:spPr>
          <a:xfrm>
            <a:off x="841248" y="2906240"/>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8-31 160203.png"/>
          <p:cNvPicPr>
            <a:picLocks noChangeAspect="1"/>
          </p:cNvPicPr>
          <p:nvPr/>
        </p:nvPicPr>
        <p:blipFill>
          <a:blip r:embed="rId3"/>
          <a:stretch>
            <a:fillRect/>
          </a:stretch>
        </p:blipFill>
        <p:spPr>
          <a:xfrm>
            <a:off x="2240280" y="2929185"/>
            <a:ext cx="5710752" cy="1325710"/>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groups accounts by status and calculates the average balance. Active accounts total 497 with an average balance of 20,519.67, while closed accounts total 203.</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26</a:t>
            </a:r>
            <a:endParaRPr sz="900" b="1" dirty="0">
              <a:solidFill>
                <a:srgbClr val="525254"/>
              </a:solidFill>
              <a:latin typeface="Roboto Condense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transaction types are most common among completed transactions?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305.png"/>
          <p:cNvPicPr>
            <a:picLocks noChangeAspect="1"/>
          </p:cNvPicPr>
          <p:nvPr/>
        </p:nvPicPr>
        <p:blipFill>
          <a:blip r:embed="rId2"/>
          <a:stretch>
            <a:fillRect/>
          </a:stretch>
        </p:blipFill>
        <p:spPr>
          <a:xfrm>
            <a:off x="2240280" y="1499616"/>
            <a:ext cx="5739154" cy="1265368"/>
          </a:xfrm>
          <a:prstGeom prst="rect">
            <a:avLst/>
          </a:prstGeom>
        </p:spPr>
      </p:pic>
      <p:sp>
        <p:nvSpPr>
          <p:cNvPr id="6" name="TextBox 5"/>
          <p:cNvSpPr txBox="1"/>
          <p:nvPr/>
        </p:nvSpPr>
        <p:spPr>
          <a:xfrm>
            <a:off x="868680" y="288493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312.png"/>
          <p:cNvPicPr>
            <a:picLocks noChangeAspect="1"/>
          </p:cNvPicPr>
          <p:nvPr/>
        </p:nvPicPr>
        <p:blipFill>
          <a:blip r:embed="rId3"/>
          <a:stretch>
            <a:fillRect/>
          </a:stretch>
        </p:blipFill>
        <p:spPr>
          <a:xfrm>
            <a:off x="2518913" y="2884932"/>
            <a:ext cx="4805597" cy="1779584"/>
          </a:xfrm>
          <a:prstGeom prst="rect">
            <a:avLst/>
          </a:prstGeom>
        </p:spPr>
      </p:pic>
      <p:sp>
        <p:nvSpPr>
          <p:cNvPr id="8" name="TextBox 7"/>
          <p:cNvSpPr txBox="1"/>
          <p:nvPr/>
        </p:nvSpPr>
        <p:spPr>
          <a:xfrm>
            <a:off x="868680" y="4928616"/>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46320"/>
            <a:ext cx="8732520" cy="841248"/>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56048"/>
            <a:ext cx="8293608" cy="594360"/>
          </a:xfrm>
          <a:prstGeom prst="rect">
            <a:avLst/>
          </a:prstGeom>
          <a:noFill/>
        </p:spPr>
        <p:txBody>
          <a:bodyPr wrap="square" anchor="ctr">
            <a:spAutoFit/>
          </a:bodyPr>
          <a:lstStyle/>
          <a:p>
            <a:pPr algn="l"/>
            <a:r>
              <a:rPr sz="1170" b="0">
                <a:solidFill>
                  <a:srgbClr val="1E1E20"/>
                </a:solidFill>
                <a:latin typeface="Roboto Condensed"/>
              </a:rPr>
              <a:t>The query filters completed transactions, groups them by transaction type and calculates both count and total amount. Transfer is the most common completed transaction type with 308 transactions.</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27</a:t>
            </a:r>
            <a:endParaRPr sz="900" b="1" dirty="0">
              <a:solidFill>
                <a:srgbClr val="525254"/>
              </a:solidFill>
              <a:latin typeface="Roboto Condense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What are the latest six months of completed transaction activity?</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423.png"/>
          <p:cNvPicPr>
            <a:picLocks noChangeAspect="1"/>
          </p:cNvPicPr>
          <p:nvPr/>
        </p:nvPicPr>
        <p:blipFill>
          <a:blip r:embed="rId2"/>
          <a:stretch>
            <a:fillRect/>
          </a:stretch>
        </p:blipFill>
        <p:spPr>
          <a:xfrm>
            <a:off x="2320507" y="1536364"/>
            <a:ext cx="6090248" cy="1227366"/>
          </a:xfrm>
          <a:prstGeom prst="rect">
            <a:avLst/>
          </a:prstGeom>
        </p:spPr>
      </p:pic>
      <p:sp>
        <p:nvSpPr>
          <p:cNvPr id="6" name="TextBox 5"/>
          <p:cNvSpPr txBox="1"/>
          <p:nvPr/>
        </p:nvSpPr>
        <p:spPr>
          <a:xfrm>
            <a:off x="822960" y="2837055"/>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437.png"/>
          <p:cNvPicPr>
            <a:picLocks noChangeAspect="1"/>
          </p:cNvPicPr>
          <p:nvPr/>
        </p:nvPicPr>
        <p:blipFill>
          <a:blip r:embed="rId3"/>
          <a:stretch>
            <a:fillRect/>
          </a:stretch>
        </p:blipFill>
        <p:spPr>
          <a:xfrm>
            <a:off x="2450592" y="2956251"/>
            <a:ext cx="5027552" cy="1382577"/>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groups completed transactions by month and returns the latest six months. September 2024 has the highest transaction count among these six months, with 67 completed transactions and a total amount of 469,034.21.</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28</a:t>
            </a:r>
            <a:endParaRPr sz="900" b="1" dirty="0">
              <a:solidFill>
                <a:srgbClr val="525254"/>
              </a:solidFill>
              <a:latin typeface="Roboto Condense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loan types have the highest number of loans and outstanding balances?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517.png"/>
          <p:cNvPicPr>
            <a:picLocks noChangeAspect="1"/>
          </p:cNvPicPr>
          <p:nvPr/>
        </p:nvPicPr>
        <p:blipFill>
          <a:blip r:embed="rId2"/>
          <a:stretch>
            <a:fillRect/>
          </a:stretch>
        </p:blipFill>
        <p:spPr>
          <a:xfrm>
            <a:off x="2372954" y="1472184"/>
            <a:ext cx="5090807" cy="1273104"/>
          </a:xfrm>
          <a:prstGeom prst="rect">
            <a:avLst/>
          </a:prstGeom>
        </p:spPr>
      </p:pic>
      <p:sp>
        <p:nvSpPr>
          <p:cNvPr id="6" name="TextBox 5"/>
          <p:cNvSpPr txBox="1"/>
          <p:nvPr/>
        </p:nvSpPr>
        <p:spPr>
          <a:xfrm>
            <a:off x="907499" y="2745288"/>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522.png"/>
          <p:cNvPicPr>
            <a:picLocks noChangeAspect="1"/>
          </p:cNvPicPr>
          <p:nvPr/>
        </p:nvPicPr>
        <p:blipFill>
          <a:blip r:embed="rId3"/>
          <a:stretch>
            <a:fillRect/>
          </a:stretch>
        </p:blipFill>
        <p:spPr>
          <a:xfrm>
            <a:off x="2450592" y="2754432"/>
            <a:ext cx="6071132" cy="1835856"/>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groups loans by loan type and compares both loan count and outstanding balance. Education loans have the highest volume with 64 loans, while Education also has the highest outstanding balance in the displayed result.</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29</a:t>
            </a:r>
            <a:endParaRPr sz="900" b="1" dirty="0">
              <a:solidFill>
                <a:srgbClr val="525254"/>
              </a:solidFill>
              <a:latin typeface="Roboto Condense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is outstanding loan balance distributed by loan status?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554.png"/>
          <p:cNvPicPr>
            <a:picLocks noChangeAspect="1"/>
          </p:cNvPicPr>
          <p:nvPr/>
        </p:nvPicPr>
        <p:blipFill>
          <a:blip r:embed="rId2"/>
          <a:stretch>
            <a:fillRect/>
          </a:stretch>
        </p:blipFill>
        <p:spPr>
          <a:xfrm>
            <a:off x="2240280" y="1516719"/>
            <a:ext cx="5688476" cy="1296378"/>
          </a:xfrm>
          <a:prstGeom prst="rect">
            <a:avLst/>
          </a:prstGeom>
        </p:spPr>
      </p:pic>
      <p:sp>
        <p:nvSpPr>
          <p:cNvPr id="6" name="TextBox 5"/>
          <p:cNvSpPr txBox="1"/>
          <p:nvPr/>
        </p:nvSpPr>
        <p:spPr>
          <a:xfrm>
            <a:off x="914400" y="2799295"/>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559.png"/>
          <p:cNvPicPr>
            <a:picLocks noChangeAspect="1"/>
          </p:cNvPicPr>
          <p:nvPr/>
        </p:nvPicPr>
        <p:blipFill>
          <a:blip r:embed="rId3"/>
          <a:stretch>
            <a:fillRect/>
          </a:stretch>
        </p:blipFill>
        <p:spPr>
          <a:xfrm>
            <a:off x="2311880" y="2866777"/>
            <a:ext cx="6375904" cy="1714367"/>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groups loans by status and sums outstanding balances. In Arrears has the highest outstanding balance at 20,569,787.74, followed by Defaulted.</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dirty="0">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30</a:t>
            </a:r>
            <a:endParaRPr sz="900" b="1" dirty="0">
              <a:solidFill>
                <a:srgbClr val="525254"/>
              </a:solidFill>
              <a:latin typeface="Roboto Condense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payment methods have the highest number of late payments?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624.png"/>
          <p:cNvPicPr>
            <a:picLocks noChangeAspect="1"/>
          </p:cNvPicPr>
          <p:nvPr/>
        </p:nvPicPr>
        <p:blipFill>
          <a:blip r:embed="rId2"/>
          <a:stretch>
            <a:fillRect/>
          </a:stretch>
        </p:blipFill>
        <p:spPr>
          <a:xfrm>
            <a:off x="2450592" y="1491785"/>
            <a:ext cx="5601131" cy="1227922"/>
          </a:xfrm>
          <a:prstGeom prst="rect">
            <a:avLst/>
          </a:prstGeom>
        </p:spPr>
      </p:pic>
      <p:sp>
        <p:nvSpPr>
          <p:cNvPr id="6" name="TextBox 5"/>
          <p:cNvSpPr txBox="1"/>
          <p:nvPr/>
        </p:nvSpPr>
        <p:spPr>
          <a:xfrm>
            <a:off x="855740" y="2642616"/>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632.png"/>
          <p:cNvPicPr>
            <a:picLocks noChangeAspect="1"/>
          </p:cNvPicPr>
          <p:nvPr/>
        </p:nvPicPr>
        <p:blipFill>
          <a:blip r:embed="rId3"/>
          <a:stretch>
            <a:fillRect/>
          </a:stretch>
        </p:blipFill>
        <p:spPr>
          <a:xfrm>
            <a:off x="2450592" y="2873842"/>
            <a:ext cx="5931851" cy="1798742"/>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considers only payments with days_late greater than zero and groups them by payment method. Cash has the highest number of late payments with 106, followed by Cheque with 102.</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31</a:t>
            </a:r>
            <a:endParaRPr sz="900" b="1" dirty="0">
              <a:solidFill>
                <a:srgbClr val="525254"/>
              </a:solidFill>
              <a:latin typeface="Roboto Condense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What percentage of loan payments were late?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658.png"/>
          <p:cNvPicPr>
            <a:picLocks noChangeAspect="1"/>
          </p:cNvPicPr>
          <p:nvPr/>
        </p:nvPicPr>
        <p:blipFill>
          <a:blip r:embed="rId2"/>
          <a:stretch>
            <a:fillRect/>
          </a:stretch>
        </p:blipFill>
        <p:spPr>
          <a:xfrm>
            <a:off x="2240280" y="1522016"/>
            <a:ext cx="6354493" cy="1024128"/>
          </a:xfrm>
          <a:prstGeom prst="rect">
            <a:avLst/>
          </a:prstGeom>
        </p:spPr>
      </p:pic>
      <p:sp>
        <p:nvSpPr>
          <p:cNvPr id="6" name="TextBox 5"/>
          <p:cNvSpPr txBox="1"/>
          <p:nvPr/>
        </p:nvSpPr>
        <p:spPr>
          <a:xfrm>
            <a:off x="822960" y="272491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703.png"/>
          <p:cNvPicPr>
            <a:picLocks noChangeAspect="1"/>
          </p:cNvPicPr>
          <p:nvPr/>
        </p:nvPicPr>
        <p:blipFill>
          <a:blip r:embed="rId3"/>
          <a:stretch>
            <a:fillRect/>
          </a:stretch>
        </p:blipFill>
        <p:spPr>
          <a:xfrm>
            <a:off x="2240280" y="2866184"/>
            <a:ext cx="7590717" cy="1747423"/>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counts all loan payments with days_late greater than zero and divides by total loan payments. The result is 25.00%, meaning one quarter of the payment records were late.</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32</a:t>
            </a:r>
            <a:endParaRPr sz="900" b="1" dirty="0">
              <a:solidFill>
                <a:srgbClr val="525254"/>
              </a:solidFill>
              <a:latin typeface="Roboto Condense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do card types differ in count, average credit limit and outstanding balance?</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747.png"/>
          <p:cNvPicPr>
            <a:picLocks noChangeAspect="1"/>
          </p:cNvPicPr>
          <p:nvPr/>
        </p:nvPicPr>
        <p:blipFill>
          <a:blip r:embed="rId2"/>
          <a:stretch>
            <a:fillRect/>
          </a:stretch>
        </p:blipFill>
        <p:spPr>
          <a:xfrm>
            <a:off x="2240280" y="1556573"/>
            <a:ext cx="6113539" cy="1161288"/>
          </a:xfrm>
          <a:prstGeom prst="rect">
            <a:avLst/>
          </a:prstGeom>
        </p:spPr>
      </p:pic>
      <p:sp>
        <p:nvSpPr>
          <p:cNvPr id="6" name="TextBox 5"/>
          <p:cNvSpPr txBox="1"/>
          <p:nvPr/>
        </p:nvSpPr>
        <p:spPr>
          <a:xfrm>
            <a:off x="822960" y="272491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753.png"/>
          <p:cNvPicPr>
            <a:picLocks noChangeAspect="1"/>
          </p:cNvPicPr>
          <p:nvPr/>
        </p:nvPicPr>
        <p:blipFill>
          <a:blip r:embed="rId3"/>
          <a:stretch>
            <a:fillRect/>
          </a:stretch>
        </p:blipFill>
        <p:spPr>
          <a:xfrm>
            <a:off x="2450592" y="2836926"/>
            <a:ext cx="7493600" cy="1838053"/>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groups cards by card type and calculates card count, average credit limit and average outstanding balance. Debit cards are more numerous, while Credit cards have a positive average credit limit and outstanding balance.</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33</a:t>
            </a:r>
            <a:endParaRPr sz="900" b="1" dirty="0">
              <a:solidFill>
                <a:srgbClr val="525254"/>
              </a:solidFill>
              <a:latin typeface="Roboto Condense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many cards are active versus inactive, and what are the average reward points?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823.png"/>
          <p:cNvPicPr>
            <a:picLocks noChangeAspect="1"/>
          </p:cNvPicPr>
          <p:nvPr/>
        </p:nvPicPr>
        <p:blipFill>
          <a:blip r:embed="rId2"/>
          <a:stretch>
            <a:fillRect/>
          </a:stretch>
        </p:blipFill>
        <p:spPr>
          <a:xfrm>
            <a:off x="2240280" y="1541267"/>
            <a:ext cx="5579138" cy="1124209"/>
          </a:xfrm>
          <a:prstGeom prst="rect">
            <a:avLst/>
          </a:prstGeom>
        </p:spPr>
      </p:pic>
      <p:sp>
        <p:nvSpPr>
          <p:cNvPr id="6" name="TextBox 5"/>
          <p:cNvSpPr txBox="1"/>
          <p:nvPr/>
        </p:nvSpPr>
        <p:spPr>
          <a:xfrm>
            <a:off x="904911" y="2816352"/>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830.png"/>
          <p:cNvPicPr>
            <a:picLocks noChangeAspect="1"/>
          </p:cNvPicPr>
          <p:nvPr/>
        </p:nvPicPr>
        <p:blipFill>
          <a:blip r:embed="rId3"/>
          <a:stretch>
            <a:fillRect/>
          </a:stretch>
        </p:blipFill>
        <p:spPr>
          <a:xfrm>
            <a:off x="2450592" y="2923290"/>
            <a:ext cx="7427134" cy="1422900"/>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groups cards by the is_active flag. The output shows 563 inactive cards and 37 active cards, with average reward points of 24,713.13 and 23,061.76 respectively.</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34</a:t>
            </a:r>
            <a:endParaRPr sz="900" b="1" dirty="0">
              <a:solidFill>
                <a:srgbClr val="525254"/>
              </a:solidFill>
              <a:latin typeface="Roboto Condense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How many customers use accounts, loans and cards together?</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1950.png"/>
          <p:cNvPicPr>
            <a:picLocks noChangeAspect="1"/>
          </p:cNvPicPr>
          <p:nvPr/>
        </p:nvPicPr>
        <p:blipFill>
          <a:blip r:embed="rId2"/>
          <a:stretch>
            <a:fillRect/>
          </a:stretch>
        </p:blipFill>
        <p:spPr>
          <a:xfrm>
            <a:off x="2240280" y="1525064"/>
            <a:ext cx="6419605" cy="1477360"/>
          </a:xfrm>
          <a:prstGeom prst="rect">
            <a:avLst/>
          </a:prstGeom>
        </p:spPr>
      </p:pic>
      <p:sp>
        <p:nvSpPr>
          <p:cNvPr id="6" name="TextBox 5"/>
          <p:cNvSpPr txBox="1"/>
          <p:nvPr/>
        </p:nvSpPr>
        <p:spPr>
          <a:xfrm>
            <a:off x="841248" y="3112928"/>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1958.png"/>
          <p:cNvPicPr>
            <a:picLocks noChangeAspect="1"/>
          </p:cNvPicPr>
          <p:nvPr/>
        </p:nvPicPr>
        <p:blipFill>
          <a:blip r:embed="rId3"/>
          <a:stretch>
            <a:fillRect/>
          </a:stretch>
        </p:blipFill>
        <p:spPr>
          <a:xfrm>
            <a:off x="2450592" y="3167149"/>
            <a:ext cx="6927012" cy="922203"/>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connects customers to accounts, loans and cards and counts customers who have all three product relationships. The result is 124 multi-product customers.</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35</a:t>
            </a:r>
            <a:endParaRPr sz="900" b="1" dirty="0">
              <a:solidFill>
                <a:srgbClr val="525254"/>
              </a:solidFill>
              <a:latin typeface="Roboto Condense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92608"/>
            <a:ext cx="10332720" cy="402336"/>
          </a:xfrm>
          <a:prstGeom prst="rect">
            <a:avLst/>
          </a:prstGeom>
          <a:noFill/>
        </p:spPr>
        <p:txBody>
          <a:bodyPr wrap="square" anchor="ctr">
            <a:spAutoFit/>
          </a:bodyPr>
          <a:lstStyle/>
          <a:p>
            <a:pPr algn="ctr"/>
            <a:r>
              <a:rPr sz="2700" b="1">
                <a:solidFill>
                  <a:srgbClr val="DD242C"/>
                </a:solidFill>
                <a:latin typeface="Roboto Condensed"/>
              </a:rPr>
              <a:t>SQL ANALYSIS</a:t>
            </a:r>
          </a:p>
        </p:txBody>
      </p:sp>
      <p:sp>
        <p:nvSpPr>
          <p:cNvPr id="3" name="TextBox 2"/>
          <p:cNvSpPr txBox="1"/>
          <p:nvPr/>
        </p:nvSpPr>
        <p:spPr>
          <a:xfrm>
            <a:off x="841248" y="841248"/>
            <a:ext cx="10469880" cy="621792"/>
          </a:xfrm>
          <a:prstGeom prst="rect">
            <a:avLst/>
          </a:prstGeom>
          <a:noFill/>
        </p:spPr>
        <p:txBody>
          <a:bodyPr wrap="square" anchor="ctr">
            <a:spAutoFit/>
          </a:bodyPr>
          <a:lstStyle/>
          <a:p>
            <a:pPr algn="l"/>
            <a:r>
              <a:rPr sz="2100" b="1">
                <a:solidFill>
                  <a:srgbClr val="1E1E20"/>
                </a:solidFill>
                <a:latin typeface="Roboto Condensed"/>
              </a:rPr>
              <a:t>Which customers hold the largest number of bank accounts?</a:t>
            </a:r>
          </a:p>
        </p:txBody>
      </p:sp>
      <p:sp>
        <p:nvSpPr>
          <p:cNvPr id="4" name="TextBox 3"/>
          <p:cNvSpPr txBox="1"/>
          <p:nvPr/>
        </p:nvSpPr>
        <p:spPr>
          <a:xfrm>
            <a:off x="868680" y="1572768"/>
            <a:ext cx="914400" cy="310896"/>
          </a:xfrm>
          <a:prstGeom prst="rect">
            <a:avLst/>
          </a:prstGeom>
          <a:noFill/>
        </p:spPr>
        <p:txBody>
          <a:bodyPr wrap="square" anchor="ctr">
            <a:spAutoFit/>
          </a:bodyPr>
          <a:lstStyle/>
          <a:p>
            <a:pPr algn="l"/>
            <a:r>
              <a:rPr sz="1650" b="1">
                <a:solidFill>
                  <a:srgbClr val="1E1E20"/>
                </a:solidFill>
                <a:latin typeface="Roboto Condensed"/>
              </a:rPr>
              <a:t>Query :</a:t>
            </a:r>
          </a:p>
        </p:txBody>
      </p:sp>
      <p:pic>
        <p:nvPicPr>
          <p:cNvPr id="5" name="Picture 4" descr="Screenshot 2026-09-03 112033.png"/>
          <p:cNvPicPr>
            <a:picLocks noChangeAspect="1"/>
          </p:cNvPicPr>
          <p:nvPr/>
        </p:nvPicPr>
        <p:blipFill>
          <a:blip r:embed="rId2"/>
          <a:stretch>
            <a:fillRect/>
          </a:stretch>
        </p:blipFill>
        <p:spPr>
          <a:xfrm>
            <a:off x="2240280" y="1438633"/>
            <a:ext cx="6978770" cy="1341925"/>
          </a:xfrm>
          <a:prstGeom prst="rect">
            <a:avLst/>
          </a:prstGeom>
        </p:spPr>
      </p:pic>
      <p:sp>
        <p:nvSpPr>
          <p:cNvPr id="6" name="TextBox 5"/>
          <p:cNvSpPr txBox="1"/>
          <p:nvPr/>
        </p:nvSpPr>
        <p:spPr>
          <a:xfrm>
            <a:off x="822960" y="2848356"/>
            <a:ext cx="960120" cy="310896"/>
          </a:xfrm>
          <a:prstGeom prst="rect">
            <a:avLst/>
          </a:prstGeom>
          <a:noFill/>
        </p:spPr>
        <p:txBody>
          <a:bodyPr wrap="square" anchor="ctr">
            <a:spAutoFit/>
          </a:bodyPr>
          <a:lstStyle/>
          <a:p>
            <a:pPr algn="l"/>
            <a:r>
              <a:rPr sz="1650" b="1" dirty="0">
                <a:solidFill>
                  <a:srgbClr val="1E1E20"/>
                </a:solidFill>
                <a:latin typeface="Roboto Condensed"/>
              </a:rPr>
              <a:t>Output :</a:t>
            </a:r>
          </a:p>
        </p:txBody>
      </p:sp>
      <p:pic>
        <p:nvPicPr>
          <p:cNvPr id="7" name="Picture 6" descr="Screenshot 2026-09-03 112043.png"/>
          <p:cNvPicPr>
            <a:picLocks noChangeAspect="1"/>
          </p:cNvPicPr>
          <p:nvPr/>
        </p:nvPicPr>
        <p:blipFill>
          <a:blip r:embed="rId3"/>
          <a:stretch>
            <a:fillRect/>
          </a:stretch>
        </p:blipFill>
        <p:spPr>
          <a:xfrm>
            <a:off x="2355012" y="2892742"/>
            <a:ext cx="8095027" cy="1694308"/>
          </a:xfrm>
          <a:prstGeom prst="rect">
            <a:avLst/>
          </a:prstGeom>
        </p:spPr>
      </p:pic>
      <p:sp>
        <p:nvSpPr>
          <p:cNvPr id="8" name="TextBox 7"/>
          <p:cNvSpPr txBox="1"/>
          <p:nvPr/>
        </p:nvSpPr>
        <p:spPr>
          <a:xfrm>
            <a:off x="868680" y="4919472"/>
            <a:ext cx="1371600" cy="292608"/>
          </a:xfrm>
          <a:prstGeom prst="rect">
            <a:avLst/>
          </a:prstGeom>
          <a:noFill/>
        </p:spPr>
        <p:txBody>
          <a:bodyPr wrap="square" anchor="ctr">
            <a:spAutoFit/>
          </a:bodyPr>
          <a:lstStyle/>
          <a:p>
            <a:pPr algn="l"/>
            <a:r>
              <a:rPr sz="1550" b="1">
                <a:solidFill>
                  <a:srgbClr val="1E1E20"/>
                </a:solidFill>
                <a:latin typeface="Roboto Condensed"/>
              </a:rPr>
              <a:t>Explanation :</a:t>
            </a:r>
          </a:p>
        </p:txBody>
      </p:sp>
      <p:sp>
        <p:nvSpPr>
          <p:cNvPr id="9" name="Rounded Rectangle 8"/>
          <p:cNvSpPr/>
          <p:nvPr/>
        </p:nvSpPr>
        <p:spPr>
          <a:xfrm>
            <a:off x="2240280" y="4837176"/>
            <a:ext cx="8732520" cy="859536"/>
          </a:xfrm>
          <a:prstGeom prst="roundRect">
            <a:avLst/>
          </a:prstGeom>
          <a:solidFill>
            <a:srgbClr val="FAFAFA"/>
          </a:solidFill>
          <a:ln>
            <a:solidFill>
              <a:srgbClr val="EBEB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50592" y="4928616"/>
            <a:ext cx="8302752" cy="658368"/>
          </a:xfrm>
          <a:prstGeom prst="rect">
            <a:avLst/>
          </a:prstGeom>
          <a:noFill/>
        </p:spPr>
        <p:txBody>
          <a:bodyPr wrap="square" anchor="ctr">
            <a:spAutoFit/>
          </a:bodyPr>
          <a:lstStyle/>
          <a:p>
            <a:pPr algn="l"/>
            <a:r>
              <a:rPr sz="1160" b="0">
                <a:solidFill>
                  <a:srgbClr val="1E1E20"/>
                </a:solidFill>
                <a:latin typeface="Roboto Condensed"/>
              </a:rPr>
              <a:t>The query joins customers and accounts, groups by customer and keeps customers with more than one account. Anna Jones has the highest count in the shown result with 8 accounts.</a:t>
            </a:r>
          </a:p>
        </p:txBody>
      </p:sp>
      <p:pic>
        <p:nvPicPr>
          <p:cNvPr id="11" name="Picture 10" descr="image.png"/>
          <p:cNvPicPr>
            <a:picLocks noChangeAspect="1"/>
          </p:cNvPicPr>
          <p:nvPr/>
        </p:nvPicPr>
        <p:blipFill>
          <a:blip r:embed="rId4"/>
          <a:stretch>
            <a:fillRect/>
          </a:stretch>
        </p:blipFill>
        <p:spPr>
          <a:xfrm>
            <a:off x="9555480" y="6016752"/>
            <a:ext cx="1965960" cy="414639"/>
          </a:xfrm>
          <a:prstGeom prst="rect">
            <a:avLst/>
          </a:prstGeom>
        </p:spPr>
      </p:pic>
      <p:sp>
        <p:nvSpPr>
          <p:cNvPr id="12" name="TextBox 11"/>
          <p:cNvSpPr txBox="1"/>
          <p:nvPr/>
        </p:nvSpPr>
        <p:spPr>
          <a:xfrm>
            <a:off x="594360" y="6391656"/>
            <a:ext cx="5394960" cy="182880"/>
          </a:xfrm>
          <a:prstGeom prst="rect">
            <a:avLst/>
          </a:prstGeom>
          <a:noFill/>
        </p:spPr>
        <p:txBody>
          <a:bodyPr wrap="square" anchor="ctr">
            <a:spAutoFit/>
          </a:bodyPr>
          <a:lstStyle/>
          <a:p>
            <a:pPr algn="l"/>
            <a:r>
              <a:rPr sz="850" b="1">
                <a:solidFill>
                  <a:srgbClr val="525254"/>
                </a:solidFill>
                <a:latin typeface="Roboto Condensed"/>
              </a:rPr>
              <a:t>RETAIL BANKING TRANSACTION ANALYSIS</a:t>
            </a:r>
          </a:p>
        </p:txBody>
      </p:sp>
      <p:sp>
        <p:nvSpPr>
          <p:cNvPr id="13" name="TextBox 12"/>
          <p:cNvSpPr txBox="1"/>
          <p:nvPr/>
        </p:nvSpPr>
        <p:spPr>
          <a:xfrm>
            <a:off x="11064240" y="6327648"/>
            <a:ext cx="384048" cy="228600"/>
          </a:xfrm>
          <a:prstGeom prst="rect">
            <a:avLst/>
          </a:prstGeom>
          <a:noFill/>
        </p:spPr>
        <p:txBody>
          <a:bodyPr wrap="square" anchor="ctr">
            <a:spAutoFit/>
          </a:bodyPr>
          <a:lstStyle/>
          <a:p>
            <a:pPr algn="r"/>
            <a:r>
              <a:rPr lang="en-IN" sz="900" b="1" dirty="0">
                <a:solidFill>
                  <a:srgbClr val="525254"/>
                </a:solidFill>
                <a:latin typeface="Roboto Condensed"/>
              </a:rPr>
              <a:t>36</a:t>
            </a:r>
            <a:endParaRPr sz="900" b="1" dirty="0">
              <a:solidFill>
                <a:srgbClr val="525254"/>
              </a:solidFill>
              <a:latin typeface="Roboto Condense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65760"/>
            <a:ext cx="10332720" cy="566928"/>
          </a:xfrm>
          <a:prstGeom prst="rect">
            <a:avLst/>
          </a:prstGeom>
          <a:noFill/>
        </p:spPr>
        <p:txBody>
          <a:bodyPr wrap="square" anchor="ctr">
            <a:spAutoFit/>
          </a:bodyPr>
          <a:lstStyle/>
          <a:p>
            <a:pPr algn="ctr"/>
            <a:r>
              <a:rPr sz="3100" b="1">
                <a:solidFill>
                  <a:srgbClr val="DD242C"/>
                </a:solidFill>
                <a:latin typeface="Roboto Condensed"/>
              </a:rPr>
              <a:t>Key Business Insights</a:t>
            </a:r>
          </a:p>
        </p:txBody>
      </p:sp>
      <p:sp>
        <p:nvSpPr>
          <p:cNvPr id="3" name="TextBox 2"/>
          <p:cNvSpPr txBox="1"/>
          <p:nvPr/>
        </p:nvSpPr>
        <p:spPr>
          <a:xfrm>
            <a:off x="914400" y="1143000"/>
            <a:ext cx="10241280" cy="4663440"/>
          </a:xfrm>
          <a:prstGeom prst="rect">
            <a:avLst/>
          </a:prstGeom>
          <a:noFill/>
        </p:spPr>
        <p:txBody>
          <a:bodyPr wrap="square">
            <a:spAutoFit/>
          </a:bodyPr>
          <a:lstStyle/>
          <a:p>
            <a:pPr>
              <a:spcAft>
                <a:spcPts val="700"/>
              </a:spcAft>
              <a:defRPr sz="1620">
                <a:solidFill>
                  <a:srgbClr val="1E1E20"/>
                </a:solidFill>
                <a:latin typeface="Roboto Condensed"/>
              </a:defRPr>
            </a:pPr>
            <a:r>
              <a:t>➢ 500 customers, 700 accounts, 40 branches, 300 loans, 2,000 loan payments, 600 cards and 5,000 transactions are present in the supplied data.</a:t>
            </a:r>
          </a:p>
          <a:p>
            <a:pPr>
              <a:spcAft>
                <a:spcPts val="700"/>
              </a:spcAft>
              <a:defRPr sz="1620">
                <a:solidFill>
                  <a:srgbClr val="1E1E20"/>
                </a:solidFill>
                <a:latin typeface="Roboto Condensed"/>
              </a:defRPr>
            </a:pPr>
            <a:r>
              <a:t>➢ Student is the largest customer segment with 100 customers; Premium has the highest average annual income.</a:t>
            </a:r>
          </a:p>
          <a:p>
            <a:pPr>
              <a:spcAft>
                <a:spcPts val="700"/>
              </a:spcAft>
              <a:defRPr sz="1620">
                <a:solidFill>
                  <a:srgbClr val="1E1E20"/>
                </a:solidFill>
                <a:latin typeface="Roboto Condensed"/>
              </a:defRPr>
            </a:pPr>
            <a:r>
              <a:t>➢ IRA is the most common account type with 136 accounts.</a:t>
            </a:r>
          </a:p>
          <a:p>
            <a:pPr>
              <a:spcAft>
                <a:spcPts val="700"/>
              </a:spcAft>
              <a:defRPr sz="1620">
                <a:solidFill>
                  <a:srgbClr val="1E1E20"/>
                </a:solidFill>
                <a:latin typeface="Roboto Condensed"/>
              </a:defRPr>
            </a:pPr>
            <a:r>
              <a:t>➢ Online is the leading completed transaction channel; Transfer is the leading completed transaction type by count.</a:t>
            </a:r>
          </a:p>
          <a:p>
            <a:pPr>
              <a:spcAft>
                <a:spcPts val="700"/>
              </a:spcAft>
              <a:defRPr sz="1620">
                <a:solidFill>
                  <a:srgbClr val="1E1E20"/>
                </a:solidFill>
                <a:latin typeface="Roboto Condensed"/>
              </a:defRPr>
            </a:pPr>
            <a:r>
              <a:t>➢ Education loans have the highest loan count; In Arrears loans have the highest outstanding balance.</a:t>
            </a:r>
          </a:p>
          <a:p>
            <a:pPr>
              <a:spcAft>
                <a:spcPts val="700"/>
              </a:spcAft>
              <a:defRPr sz="1620">
                <a:solidFill>
                  <a:srgbClr val="1E1E20"/>
                </a:solidFill>
                <a:latin typeface="Roboto Condensed"/>
              </a:defRPr>
            </a:pPr>
            <a:r>
              <a:t>➢ 25.00% of loan payment records are late.</a:t>
            </a:r>
          </a:p>
          <a:p>
            <a:pPr>
              <a:spcAft>
                <a:spcPts val="700"/>
              </a:spcAft>
              <a:defRPr sz="1620">
                <a:solidFill>
                  <a:srgbClr val="1E1E20"/>
                </a:solidFill>
                <a:latin typeface="Roboto Condensed"/>
              </a:defRPr>
            </a:pPr>
            <a:r>
              <a:t>➢ 124 customers have at least one account, loan and card relationship.</a:t>
            </a:r>
          </a:p>
        </p:txBody>
      </p:sp>
      <p:pic>
        <p:nvPicPr>
          <p:cNvPr id="4" name="Picture 3" descr="innomatics_logo_clean.png"/>
          <p:cNvPicPr>
            <a:picLocks noChangeAspect="1"/>
          </p:cNvPicPr>
          <p:nvPr/>
        </p:nvPicPr>
        <p:blipFill>
          <a:blip r:embed="rId2"/>
          <a:stretch>
            <a:fillRect/>
          </a:stretch>
        </p:blipFill>
        <p:spPr>
          <a:xfrm>
            <a:off x="9555480" y="6007608"/>
            <a:ext cx="1965960" cy="414639"/>
          </a:xfrm>
          <a:prstGeom prst="rect">
            <a:avLst/>
          </a:prstGeom>
        </p:spPr>
      </p:pic>
      <p:sp>
        <p:nvSpPr>
          <p:cNvPr id="5" name="TextBox 4"/>
          <p:cNvSpPr txBox="1"/>
          <p:nvPr/>
        </p:nvSpPr>
        <p:spPr>
          <a:xfrm>
            <a:off x="11109960" y="6321960"/>
            <a:ext cx="347472" cy="230832"/>
          </a:xfrm>
          <a:prstGeom prst="rect">
            <a:avLst/>
          </a:prstGeom>
          <a:noFill/>
        </p:spPr>
        <p:txBody>
          <a:bodyPr wrap="square" anchor="ctr">
            <a:spAutoFit/>
          </a:bodyPr>
          <a:lstStyle/>
          <a:p>
            <a:pPr algn="r"/>
            <a:r>
              <a:rPr lang="en-IN" sz="900" b="1" dirty="0">
                <a:solidFill>
                  <a:srgbClr val="525254"/>
                </a:solidFill>
                <a:latin typeface="Roboto Condensed"/>
              </a:rPr>
              <a:t>37</a:t>
            </a:r>
            <a:endParaRPr sz="900" b="1" dirty="0">
              <a:solidFill>
                <a:srgbClr val="525254"/>
              </a:solidFill>
              <a:latin typeface="Roboto Condense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365760"/>
            <a:ext cx="10332720" cy="566928"/>
          </a:xfrm>
          <a:prstGeom prst="rect">
            <a:avLst/>
          </a:prstGeom>
          <a:noFill/>
        </p:spPr>
        <p:txBody>
          <a:bodyPr wrap="square" anchor="ctr">
            <a:spAutoFit/>
          </a:bodyPr>
          <a:lstStyle/>
          <a:p>
            <a:pPr algn="ctr"/>
            <a:r>
              <a:rPr sz="3100" b="1">
                <a:solidFill>
                  <a:srgbClr val="DD242C"/>
                </a:solidFill>
                <a:latin typeface="Roboto Condensed"/>
              </a:rPr>
              <a:t>Conclusion &amp; Business Recommendation</a:t>
            </a:r>
          </a:p>
        </p:txBody>
      </p:sp>
      <p:sp>
        <p:nvSpPr>
          <p:cNvPr id="3" name="TextBox 2"/>
          <p:cNvSpPr txBox="1"/>
          <p:nvPr/>
        </p:nvSpPr>
        <p:spPr>
          <a:xfrm>
            <a:off x="914400" y="1097280"/>
            <a:ext cx="2103120" cy="329184"/>
          </a:xfrm>
          <a:prstGeom prst="rect">
            <a:avLst/>
          </a:prstGeom>
          <a:noFill/>
        </p:spPr>
        <p:txBody>
          <a:bodyPr wrap="square" anchor="ctr">
            <a:spAutoFit/>
          </a:bodyPr>
          <a:lstStyle/>
          <a:p>
            <a:pPr algn="l"/>
            <a:r>
              <a:rPr sz="1900" b="1">
                <a:solidFill>
                  <a:srgbClr val="DD242C"/>
                </a:solidFill>
                <a:latin typeface="Roboto Condensed"/>
              </a:rPr>
              <a:t>Conclusion</a:t>
            </a:r>
          </a:p>
        </p:txBody>
      </p:sp>
      <p:sp>
        <p:nvSpPr>
          <p:cNvPr id="4" name="TextBox 3"/>
          <p:cNvSpPr txBox="1"/>
          <p:nvPr/>
        </p:nvSpPr>
        <p:spPr>
          <a:xfrm>
            <a:off x="914400" y="1481328"/>
            <a:ext cx="10195560" cy="713232"/>
          </a:xfrm>
          <a:prstGeom prst="rect">
            <a:avLst/>
          </a:prstGeom>
          <a:noFill/>
        </p:spPr>
        <p:txBody>
          <a:bodyPr wrap="square" anchor="ctr">
            <a:spAutoFit/>
          </a:bodyPr>
          <a:lstStyle/>
          <a:p>
            <a:pPr algn="l"/>
            <a:r>
              <a:rPr sz="1410" b="0">
                <a:solidFill>
                  <a:srgbClr val="1E1E20"/>
                </a:solidFill>
                <a:latin typeface="Roboto Condensed"/>
              </a:rPr>
              <a:t>The project demonstrates an end-to-end SQL workflow: understand the banking business, build a relational database, analyze real banking activity, interpret outputs and translate findings into business decisions.</a:t>
            </a:r>
          </a:p>
        </p:txBody>
      </p:sp>
      <p:sp>
        <p:nvSpPr>
          <p:cNvPr id="5" name="TextBox 4"/>
          <p:cNvSpPr txBox="1"/>
          <p:nvPr/>
        </p:nvSpPr>
        <p:spPr>
          <a:xfrm>
            <a:off x="914400" y="2423160"/>
            <a:ext cx="2743200" cy="329184"/>
          </a:xfrm>
          <a:prstGeom prst="rect">
            <a:avLst/>
          </a:prstGeom>
          <a:noFill/>
        </p:spPr>
        <p:txBody>
          <a:bodyPr wrap="square" anchor="ctr">
            <a:spAutoFit/>
          </a:bodyPr>
          <a:lstStyle/>
          <a:p>
            <a:pPr algn="l"/>
            <a:r>
              <a:rPr sz="1900" b="1">
                <a:solidFill>
                  <a:srgbClr val="DD242C"/>
                </a:solidFill>
                <a:latin typeface="Roboto Condensed"/>
              </a:rPr>
              <a:t>Recommendations</a:t>
            </a:r>
          </a:p>
        </p:txBody>
      </p:sp>
      <p:sp>
        <p:nvSpPr>
          <p:cNvPr id="6" name="TextBox 5"/>
          <p:cNvSpPr txBox="1"/>
          <p:nvPr/>
        </p:nvSpPr>
        <p:spPr>
          <a:xfrm>
            <a:off x="914400" y="2788920"/>
            <a:ext cx="10149840" cy="1737360"/>
          </a:xfrm>
          <a:prstGeom prst="rect">
            <a:avLst/>
          </a:prstGeom>
          <a:noFill/>
        </p:spPr>
        <p:txBody>
          <a:bodyPr wrap="square">
            <a:spAutoFit/>
          </a:bodyPr>
          <a:lstStyle/>
          <a:p>
            <a:pPr>
              <a:spcAft>
                <a:spcPts val="700"/>
              </a:spcAft>
              <a:defRPr sz="1400">
                <a:solidFill>
                  <a:srgbClr val="1E1E20"/>
                </a:solidFill>
                <a:latin typeface="Roboto Condensed"/>
              </a:defRPr>
            </a:pPr>
            <a:r>
              <a:t>➢ Strengthen engagement strategies for high-value customer groups and large segments.</a:t>
            </a:r>
          </a:p>
          <a:p>
            <a:pPr>
              <a:spcAft>
                <a:spcPts val="700"/>
              </a:spcAft>
              <a:defRPr sz="1400">
                <a:solidFill>
                  <a:srgbClr val="1E1E20"/>
                </a:solidFill>
                <a:latin typeface="Roboto Condensed"/>
              </a:defRPr>
            </a:pPr>
            <a:r>
              <a:t>➢ Review branch and account activity for service opportunities.</a:t>
            </a:r>
          </a:p>
          <a:p>
            <a:pPr>
              <a:spcAft>
                <a:spcPts val="700"/>
              </a:spcAft>
              <a:defRPr sz="1400">
                <a:solidFill>
                  <a:srgbClr val="1E1E20"/>
                </a:solidFill>
                <a:latin typeface="Roboto Condensed"/>
              </a:defRPr>
            </a:pPr>
            <a:r>
              <a:t>➢ Prioritize early-warning actions for loans in arrears and repeated late payments.</a:t>
            </a:r>
          </a:p>
          <a:p>
            <a:pPr>
              <a:spcAft>
                <a:spcPts val="700"/>
              </a:spcAft>
              <a:defRPr sz="1400">
                <a:solidFill>
                  <a:srgbClr val="1E1E20"/>
                </a:solidFill>
                <a:latin typeface="Roboto Condensed"/>
              </a:defRPr>
            </a:pPr>
            <a:r>
              <a:t>➢ Use cross-product relationships for relevant account, card and loan opportunities.</a:t>
            </a:r>
          </a:p>
        </p:txBody>
      </p:sp>
      <p:sp>
        <p:nvSpPr>
          <p:cNvPr id="7" name="TextBox 6"/>
          <p:cNvSpPr txBox="1"/>
          <p:nvPr/>
        </p:nvSpPr>
        <p:spPr>
          <a:xfrm>
            <a:off x="914400" y="4773168"/>
            <a:ext cx="2286000" cy="310896"/>
          </a:xfrm>
          <a:prstGeom prst="rect">
            <a:avLst/>
          </a:prstGeom>
          <a:noFill/>
        </p:spPr>
        <p:txBody>
          <a:bodyPr wrap="square" anchor="ctr">
            <a:spAutoFit/>
          </a:bodyPr>
          <a:lstStyle/>
          <a:p>
            <a:pPr algn="l"/>
            <a:r>
              <a:rPr sz="1700" b="1">
                <a:solidFill>
                  <a:srgbClr val="DD242C"/>
                </a:solidFill>
                <a:latin typeface="Roboto Condensed"/>
              </a:rPr>
              <a:t>Challenges Faced</a:t>
            </a:r>
          </a:p>
        </p:txBody>
      </p:sp>
      <p:sp>
        <p:nvSpPr>
          <p:cNvPr id="8" name="TextBox 7"/>
          <p:cNvSpPr txBox="1"/>
          <p:nvPr/>
        </p:nvSpPr>
        <p:spPr>
          <a:xfrm>
            <a:off x="2880360" y="4727448"/>
            <a:ext cx="7909560" cy="502920"/>
          </a:xfrm>
          <a:prstGeom prst="rect">
            <a:avLst/>
          </a:prstGeom>
          <a:noFill/>
        </p:spPr>
        <p:txBody>
          <a:bodyPr wrap="square" anchor="ctr">
            <a:spAutoFit/>
          </a:bodyPr>
          <a:lstStyle/>
          <a:p>
            <a:pPr algn="l"/>
            <a:r>
              <a:rPr sz="1240" b="0">
                <a:solidFill>
                  <a:srgbClr val="1E1E20"/>
                </a:solidFill>
                <a:latin typeface="Roboto Condensed"/>
              </a:rPr>
              <a:t>CSV import validation, date/null handling, data types, relational joins and preserving accurate business logic across linked tables.</a:t>
            </a:r>
          </a:p>
        </p:txBody>
      </p:sp>
      <p:pic>
        <p:nvPicPr>
          <p:cNvPr id="9" name="Picture 8" descr="innomatics_logo_clean.png"/>
          <p:cNvPicPr>
            <a:picLocks noChangeAspect="1"/>
          </p:cNvPicPr>
          <p:nvPr/>
        </p:nvPicPr>
        <p:blipFill>
          <a:blip r:embed="rId2"/>
          <a:stretch>
            <a:fillRect/>
          </a:stretch>
        </p:blipFill>
        <p:spPr>
          <a:xfrm>
            <a:off x="9555480" y="6007608"/>
            <a:ext cx="1965960" cy="414639"/>
          </a:xfrm>
          <a:prstGeom prst="rect">
            <a:avLst/>
          </a:prstGeom>
        </p:spPr>
      </p:pic>
      <p:sp>
        <p:nvSpPr>
          <p:cNvPr id="10" name="TextBox 9"/>
          <p:cNvSpPr txBox="1"/>
          <p:nvPr/>
        </p:nvSpPr>
        <p:spPr>
          <a:xfrm>
            <a:off x="11109960" y="6321960"/>
            <a:ext cx="347472" cy="230832"/>
          </a:xfrm>
          <a:prstGeom prst="rect">
            <a:avLst/>
          </a:prstGeom>
          <a:noFill/>
        </p:spPr>
        <p:txBody>
          <a:bodyPr wrap="square" anchor="ctr">
            <a:spAutoFit/>
          </a:bodyPr>
          <a:lstStyle/>
          <a:p>
            <a:pPr algn="r"/>
            <a:r>
              <a:rPr lang="en-IN" sz="900" b="1" dirty="0">
                <a:solidFill>
                  <a:srgbClr val="525254"/>
                </a:solidFill>
                <a:latin typeface="Roboto Condensed"/>
              </a:rPr>
              <a:t>38</a:t>
            </a:r>
            <a:endParaRPr sz="900" b="1" dirty="0">
              <a:solidFill>
                <a:srgbClr val="525254"/>
              </a:solidFill>
              <a:latin typeface="Roboto Condense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423160"/>
            <a:ext cx="10332720" cy="1097280"/>
          </a:xfrm>
          <a:prstGeom prst="rect">
            <a:avLst/>
          </a:prstGeom>
          <a:noFill/>
        </p:spPr>
        <p:txBody>
          <a:bodyPr wrap="square" anchor="ctr">
            <a:spAutoFit/>
          </a:bodyPr>
          <a:lstStyle/>
          <a:p>
            <a:pPr algn="ctr"/>
            <a:r>
              <a:rPr sz="4400" b="1">
                <a:solidFill>
                  <a:srgbClr val="DD242C"/>
                </a:solidFill>
                <a:latin typeface="Roboto Condense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59</TotalTime>
  <Words>2232</Words>
  <Application>Microsoft Office PowerPoint</Application>
  <PresentationFormat>Widescreen</PresentationFormat>
  <Paragraphs>325</Paragraphs>
  <Slides>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Narendra Reddy</cp:lastModifiedBy>
  <cp:revision>4</cp:revision>
  <dcterms:created xsi:type="dcterms:W3CDTF">2013-01-27T09:14:16Z</dcterms:created>
  <dcterms:modified xsi:type="dcterms:W3CDTF">2026-09-03T10:26:37Z</dcterms:modified>
  <cp:category/>
</cp:coreProperties>
</file>